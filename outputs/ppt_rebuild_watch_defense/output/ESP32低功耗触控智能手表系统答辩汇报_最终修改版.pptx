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b23f270c84a4c" /><Relationship Type="http://schemas.openxmlformats.org/officeDocument/2006/relationships/extended-properties" Target="/docProps/app.xml" Id="R85514ada154c4fa9" /><Relationship Type="http://schemas.openxmlformats.org/officeDocument/2006/relationships/officeDocument" Target="/ppt/presentation.xml" Id="Radd1c12fed24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255fbc49948a7"/>
  </p:sldMasterIdLst>
  <p:notesMasterIdLst>
    <p:notesMasterId xmlns:r="http://schemas.openxmlformats.org/officeDocument/2006/relationships" r:id="R1438980025ab43e7"/>
  </p:notesMasterIdLst>
  <p:sldIdLst>
    <p:sldId xmlns:r="http://schemas.openxmlformats.org/officeDocument/2006/relationships" id="256" r:id="R1f03bda249ad4718"/>
    <p:sldId xmlns:r="http://schemas.openxmlformats.org/officeDocument/2006/relationships" id="257" r:id="R1f4fb62447a94469"/>
    <p:sldId xmlns:r="http://schemas.openxmlformats.org/officeDocument/2006/relationships" id="258" r:id="R221065bea93249bf"/>
    <p:sldId xmlns:r="http://schemas.openxmlformats.org/officeDocument/2006/relationships" id="259" r:id="R34c4d281480c49f9"/>
    <p:sldId xmlns:r="http://schemas.openxmlformats.org/officeDocument/2006/relationships" id="260" r:id="R187bdd8a74454e88"/>
    <p:sldId xmlns:r="http://schemas.openxmlformats.org/officeDocument/2006/relationships" id="261" r:id="R2ae59cbecee74958"/>
    <p:sldId xmlns:r="http://schemas.openxmlformats.org/officeDocument/2006/relationships" id="262" r:id="Ra50339756da14546"/>
    <p:sldId xmlns:r="http://schemas.openxmlformats.org/officeDocument/2006/relationships" id="263" r:id="R3ca21f4b83674fe9"/>
    <p:sldId xmlns:r="http://schemas.openxmlformats.org/officeDocument/2006/relationships" id="264" r:id="R541459aca4eb4019"/>
    <p:sldId xmlns:r="http://schemas.openxmlformats.org/officeDocument/2006/relationships" id="265" r:id="R9d9bffe2296545d4"/>
    <p:sldId xmlns:r="http://schemas.openxmlformats.org/officeDocument/2006/relationships" id="266" r:id="R752d6d65c97541ac"/>
    <p:sldId xmlns:r="http://schemas.openxmlformats.org/officeDocument/2006/relationships" id="267" r:id="R8370ac69893b41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255fbc49948a7" /><Relationship Type="http://schemas.openxmlformats.org/officeDocument/2006/relationships/theme" Target="/ppt/theme/theme1.xml" Id="Re86d3f11a6034059" /><Relationship Type="http://schemas.openxmlformats.org/officeDocument/2006/relationships/notesMaster" Target="/ppt/notesMasters/notesMaster1.xml" Id="R1438980025ab43e7" /><Relationship Type="http://schemas.openxmlformats.org/officeDocument/2006/relationships/presProps" Target="/ppt/presProps.xml" Id="Rb45705930788490a" /><Relationship Type="http://schemas.openxmlformats.org/officeDocument/2006/relationships/viewProps" Target="/ppt/viewProps.xml" Id="R787fd87b1c544f0d" /><Relationship Type="http://schemas.openxmlformats.org/officeDocument/2006/relationships/tableStyles" Target="/ppt/tableStyles.xml" Id="Rb859dddea3134e21" /><Relationship Type="http://schemas.openxmlformats.org/officeDocument/2006/relationships/slide" Target="/ppt/slides/slide1.xml" Id="R1f03bda249ad4718" /><Relationship Type="http://schemas.openxmlformats.org/officeDocument/2006/relationships/slide" Target="/ppt/slides/slide2.xml" Id="R1f4fb62447a94469" /><Relationship Type="http://schemas.openxmlformats.org/officeDocument/2006/relationships/slide" Target="/ppt/slides/slide3.xml" Id="R221065bea93249bf" /><Relationship Type="http://schemas.openxmlformats.org/officeDocument/2006/relationships/slide" Target="/ppt/slides/slide4.xml" Id="R34c4d281480c49f9" /><Relationship Type="http://schemas.openxmlformats.org/officeDocument/2006/relationships/slide" Target="/ppt/slides/slide5.xml" Id="R187bdd8a74454e88" /><Relationship Type="http://schemas.openxmlformats.org/officeDocument/2006/relationships/slide" Target="/ppt/slides/slide6.xml" Id="R2ae59cbecee74958" /><Relationship Type="http://schemas.openxmlformats.org/officeDocument/2006/relationships/slide" Target="/ppt/slides/slide7.xml" Id="Ra50339756da14546" /><Relationship Type="http://schemas.openxmlformats.org/officeDocument/2006/relationships/slide" Target="/ppt/slides/slide8.xml" Id="R3ca21f4b83674fe9" /><Relationship Type="http://schemas.openxmlformats.org/officeDocument/2006/relationships/slide" Target="/ppt/slides/slide9.xml" Id="R541459aca4eb4019" /><Relationship Type="http://schemas.openxmlformats.org/officeDocument/2006/relationships/slide" Target="/ppt/slides/slide10.xml" Id="R9d9bffe2296545d4" /><Relationship Type="http://schemas.openxmlformats.org/officeDocument/2006/relationships/slide" Target="/ppt/slides/slide11.xml" Id="R752d6d65c97541ac" /><Relationship Type="http://schemas.openxmlformats.org/officeDocument/2006/relationships/slide" Target="/ppt/slides/slide12.xml" Id="R8370ac69893b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86e71c3144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05a6c857c4150" /><Relationship Type="http://schemas.openxmlformats.org/officeDocument/2006/relationships/notesMaster" Target="/ppt/notesMasters/notesMaster1.xml" Id="R63f0b0345a9a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ae53a6b4a49f6" /><Relationship Type="http://schemas.openxmlformats.org/officeDocument/2006/relationships/notesMaster" Target="/ppt/notesMasters/notesMaster1.xml" Id="Rcf0f4c4dc189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b54f694a994e65" /><Relationship Type="http://schemas.openxmlformats.org/officeDocument/2006/relationships/notesMaster" Target="/ppt/notesMasters/notesMaster1.xml" Id="R698267f45b3b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7efe5e3cb4d5d" /><Relationship Type="http://schemas.openxmlformats.org/officeDocument/2006/relationships/notesMaster" Target="/ppt/notesMasters/notesMaster1.xml" Id="Re3c8d3e5ef0b4e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65eedddf343ed" /><Relationship Type="http://schemas.openxmlformats.org/officeDocument/2006/relationships/notesMaster" Target="/ppt/notesMasters/notesMaster1.xml" Id="Ra2b253f0a99f4a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7c14565436428b" /><Relationship Type="http://schemas.openxmlformats.org/officeDocument/2006/relationships/notesMaster" Target="/ppt/notesMasters/notesMaster1.xml" Id="R52467621c9f440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72f61eb954fc1" /><Relationship Type="http://schemas.openxmlformats.org/officeDocument/2006/relationships/notesMaster" Target="/ppt/notesMasters/notesMaster1.xml" Id="R890f003983d740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91ffbb376c4b75" /><Relationship Type="http://schemas.openxmlformats.org/officeDocument/2006/relationships/notesMaster" Target="/ppt/notesMasters/notesMaster1.xml" Id="R98c4afe608d4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254e2129844df3" /><Relationship Type="http://schemas.openxmlformats.org/officeDocument/2006/relationships/notesMaster" Target="/ppt/notesMasters/notesMaster1.xml" Id="R7cb0e69222b2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da4e32d29e47a2" /><Relationship Type="http://schemas.openxmlformats.org/officeDocument/2006/relationships/notesMaster" Target="/ppt/notesMasters/notesMaster1.xml" Id="R9fef6b9fb21d4b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814025fe044daf" /><Relationship Type="http://schemas.openxmlformats.org/officeDocument/2006/relationships/notesMaster" Target="/ppt/notesMasters/notesMaster1.xml" Id="R2e0806ab796047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7a5ae7c1554ea1" /><Relationship Type="http://schemas.openxmlformats.org/officeDocument/2006/relationships/notesMaster" Target="/ppt/notesMasters/notesMaster1.xml" Id="R6cb6c296a27943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682758dcc48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2bab3fdf5c43af" /><Relationship Type="http://schemas.openxmlformats.org/officeDocument/2006/relationships/slideLayout" Target="/ppt/slideLayouts/slideLayout2.xml" Id="R08f09d26518d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09d26518d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bbcee245ab4f49" /><Relationship Type="http://schemas.openxmlformats.org/officeDocument/2006/relationships/notesSlide" Target="/ppt/notesSlides/notesSlide1.xml" Id="R333ee805eded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271ab84dcc486f" /><Relationship Type="http://schemas.openxmlformats.org/officeDocument/2006/relationships/notesSlide" Target="/ppt/notesSlides/notesSlide2.xml" Id="Rfd4dc9c8fd88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4e643e7344a6a" /><Relationship Type="http://schemas.openxmlformats.org/officeDocument/2006/relationships/notesSlide" Target="/ppt/notesSlides/notesSlide3.xml" Id="R84a34d48ced444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3a05a67974292" /><Relationship Type="http://schemas.openxmlformats.org/officeDocument/2006/relationships/notesSlide" Target="/ppt/notesSlides/notesSlide4.xml" Id="Rcaa04b48cf7c4e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9d697a3b954b3c" /><Relationship Type="http://schemas.openxmlformats.org/officeDocument/2006/relationships/notesSlide" Target="/ppt/notesSlides/notesSlide5.xml" Id="R8e36fc42fa00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527edf8d44049" /><Relationship Type="http://schemas.openxmlformats.org/officeDocument/2006/relationships/notesSlide" Target="/ppt/notesSlides/notesSlide6.xml" Id="R6fbf28ded81b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6b01b891541ae" /><Relationship Type="http://schemas.openxmlformats.org/officeDocument/2006/relationships/notesSlide" Target="/ppt/notesSlides/notesSlide7.xml" Id="R18224b206f00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81a8cad1a4bc0" /><Relationship Type="http://schemas.openxmlformats.org/officeDocument/2006/relationships/notesSlide" Target="/ppt/notesSlides/notesSlide8.xml" Id="R479a564b89d74b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59e4ec7e6452c" /><Relationship Type="http://schemas.openxmlformats.org/officeDocument/2006/relationships/notesSlide" Target="/ppt/notesSlides/notesSlide9.xml" Id="R69d1150347724e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8de1324ac4dd4" /><Relationship Type="http://schemas.openxmlformats.org/officeDocument/2006/relationships/notesSlide" Target="/ppt/notesSlides/notesSlide10.xml" Id="Rd29b339a5f62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5ed964507343ce" /><Relationship Type="http://schemas.openxmlformats.org/officeDocument/2006/relationships/notesSlide" Target="/ppt/notesSlides/notesSlide11.xml" Id="R98898852da0d4a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3e6f48131446d" /><Relationship Type="http://schemas.openxmlformats.org/officeDocument/2006/relationships/notesSlide" Target="/ppt/notesSlides/notesSlide12.xml" Id="Ra187f92b3aac46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F4F16-54E1-4232-9791-BDFA183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761C4-BF4F-4070-9E8C-4CC42D5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71B73-13F1-4789-867F-28914A0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287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74EA0-FF58-4E41-954E-1B489D79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13285-2891-4A30-8138-EB5FC9BF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525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8B535-4122-4C79-98C0-9E659AF8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CF273-1952-4BBF-AFC1-C86D8CB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764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31E73-D125-4FF7-AF65-7FFE3BB9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9B932-12B7-4061-B713-B5A8FAC4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02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2F5B1-5843-4275-B5E4-6398D39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02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6FE23-2DB8-4561-BF3E-43280ECB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240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18D28-5B82-4825-A22B-1EE10DC7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241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EBCCF-21DD-4D32-A665-9AB66DF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478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F861-B6C6-41C8-A62E-04465EDF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EAFC0-48BC-4D37-8B9F-3E30980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ED163-C19A-4812-B03B-3BDB1608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C2571-976B-48D5-A124-DA68EB36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7A787-28A9-42F2-8928-681BC38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955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FC4FC-5CBF-4DF1-94DB-9B0C00E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F868F-C22F-4837-861B-4F3C235C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FA71F-3969-4119-B36B-C7F4232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431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09B13-6E48-4065-9A55-474DE6B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432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C909E-6745-4740-8AC3-B635695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1D3A8-CE25-42FE-96E5-5D15BF8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6A991-7BD8-476B-9247-F324409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908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95012-2C82-4912-8CDD-FA3DF790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176FD-52DC-44C7-B10A-2495C10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29BEC-C0BB-4F1C-B4E2-F2364118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43E60-A732-4D1B-9AC4-F4522AE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384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C38FC-ABE8-42DC-9341-6920681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385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A56A9-00A0-48D2-87AD-C1B205E2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F56C47-DC7A-4554-A434-510189C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40A29-C2A7-4E48-BD0A-505FD283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7D963-B1DB-4323-ABD5-48CBA6D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861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8C9E36-46C4-4EE4-9338-0264CC3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099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7E6085-A869-4D08-85BB-BEAA4205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995E34-33EA-4939-A0DF-39624483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979FC-5367-4F56-84D2-B37F344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338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7E3F8D-EFE8-48C0-8FC2-B38C8F4C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AC39FA-1079-48DF-B38D-5E25946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F1AC24-D934-42EB-BDC7-DAEAF0A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814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DB6C44-84C9-4152-8ECA-B3E5DE89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15DDB1-D239-4F5F-BA77-6E2C25BF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A3C7FD-1127-4CA7-8356-C2A55307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BB0B2-0700-4253-B8E4-3BDD95B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290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AC2D00-64DF-4F8F-ADE7-65159B26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291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F9617F-0316-4224-B642-10D68C24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82E6E0-3F95-4C9D-9DBE-75192E89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EFE57D-0E5C-4321-ABE2-9B5879D7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A5CF72-28F9-49BC-A34B-9BC79C3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36301D-2437-404D-9CA2-6D6E1E0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7E7BE0-B847-4E2A-AB48-9F45EDED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学生姓名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0619B1-A966-42CF-821B-2962EE1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吴钟锭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C93B16-3039-4CBD-A8A3-78C8F0E4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F24AAA-A52F-43D4-879A-753FD815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CF0256-B214-44EC-9408-FD7E3A5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91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乔美英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C1B428-C117-4F5E-8D37-1F9FCA2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90B994-7DA6-4C7F-B259-9496BF2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rPr>
              <a:t>硬件驱动 · 图形交互 · 多媒体应用 · 云端协同 · 低功耗管理</a:t>
            </a:r>
          </a:p>
        </p:txBody>
      </p:sp>
    </p:spTree>
    <p:extLst>
      <p:ext uri="{BB962C8B-B14F-4D97-AF65-F5344CB8AC3E}">
        <p14:creationId xmlns:p14="http://schemas.microsoft.com/office/powerpoint/2010/main" val="17319119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787C7-7E89-4711-B511-E710710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44B21-6C87-450D-BA10-15342F9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BDB43-76FA-42C4-B33E-1FDC159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4ED1-622D-4793-ACC8-EE30925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EFEE6-1F6F-4FBE-952C-0DC64DA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7CE0E-2205-4AD8-854D-C44497B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FA54F-10B9-472C-B29D-3A50C7A7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F5EBC-6839-4850-9013-41AE783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B4F9F-686E-44BF-BB59-9D0E0D3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FD639-CF93-402C-8837-905CD73A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CED00-63E8-487E-A2F4-6539857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F2C16-F4F5-40D8-A53C-666E35D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47136-CC7B-4D6C-BFBA-D3F3A93F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47E6C-6750-461E-87C6-F84EEFF2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5FFF8-6373-4EA5-963B-7E0843C7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52B5A-549D-4DC1-AAEB-89CF16C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3825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EE75B-6D11-45BC-A9DA-F6A5863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5D339-69A5-4550-BD1B-65762C4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0495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EA7A2-DCF5-4507-802B-54CEBAD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3825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8F1E9-F3E2-4E54-869C-E033C8A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476375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CF033-F0B5-43E0-ADB3-F2641C7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50495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总体需求与系统架构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38D67-668C-4F1C-9148-8423578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320F8-BF18-4BDF-A005-9B75900D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6525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73A7C-7A46-4718-B9D5-7991C71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051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76244-9E72-4D61-8DBE-F0C71F3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89B96-663E-4D86-8DCF-2AE1B50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76525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B8861-E3EF-422D-B328-2B3CDE9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051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E77CD-D28B-441A-80CA-9BF8BBA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0BEDD-6CC1-47D9-9C79-40D9241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76675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4AE24-2D1D-44AA-9D76-02EF6BB4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3409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系统调试与测试</a:t>
            </a:r>
          </a:p>
        </p:txBody>
      </p:sp>
    </p:spTree>
    <p:extLst>
      <p:ext uri="{BB962C8B-B14F-4D97-AF65-F5344CB8AC3E}">
        <p14:creationId xmlns:p14="http://schemas.microsoft.com/office/powerpoint/2010/main" val="18800357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B134F-CED9-47A2-88F8-4CBF2055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2536E-2518-4F81-B82A-70E79D9D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2BFDE-E6D1-4556-BF80-4AAD9941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E15A0-EBC3-455E-86D0-647DDE3B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78CBF-3459-42FD-9C36-D2171B02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4670D-6095-4B2B-91A1-E1C48E6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07B9-6185-40A1-8DF6-43BCE6B1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273F2-C206-4D34-87DA-2D2696E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57E89-3DDD-4188-9890-ADDD10FD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FE998-68D0-45A6-AD06-874BEEEC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A6D8D-4BA2-4AE3-8F6A-2248E52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50874-7C84-46CE-AFCE-5DF2A0AD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D53C1-349D-41D3-BD77-E6B6D421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7D39D-4195-4EF3-952F-7A01231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FE2FA-615B-496D-A49D-D5E3F3D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E4D21-325F-4B30-816F-E42ED149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50A3E-9AA2-4A6C-A40E-0E7EC07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382F0-FE23-4D81-AF95-79ECF0F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34C9E-F69B-40FB-AB15-636F3360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41CDA-E476-46FA-A72F-366E32BD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400BB-137E-4190-BC24-0B56D84E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物联网与微电子技术推动智能手表由计时工具发展为个人智能终端，可承担信息交互、健康监测、运动提醒和云端同步等任务。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F423C-EAF2-42C5-989C-B215542B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EE0AC-85F1-448B-BFC0-16BF871F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9AADE-D35E-4EFC-AD0C-1685EBB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现实问题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F90D7-3D86-4F3E-BC4A-55AA2538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低功耗手环算力有限，图形交互和多媒体能力不足；高端智能手表性能强但成本高、系统复杂，不利于低成本嵌入式方案落地。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E139A-42C9-48CA-81B5-998F1E6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F8157-B36A-4816-A77F-EAB1BB5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EC97C-6C59-408A-A485-EF894001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课题意义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A6227-E9C4-46FE-9B45-845CF44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基于ESP32-S3R8、FreeRTOS和LVGL实现低功耗触控手表原型，验证MCU平台在图形界面、多媒体、网络协同和OTA维护方面的可行性。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4951009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EDD50-FFCE-493E-BCCB-496259E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A17A-1FCB-4923-B2C0-7AC5995E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94590-9217-4E3B-AF26-0FBCB689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3D18-0506-478F-A089-804A2A80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7703C-3730-4DDF-8ECD-58753B0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D7DD8-B7B8-445B-95B2-DFF85E6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EA990-54F4-4163-B76A-ACDDCFE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1E803-58EF-411E-B5D6-3E2D328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805C4-AA16-4AD2-940C-4CCFDF23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E31E9-D48A-470B-9B9A-FEE07F5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11563-EEB0-4BAA-B428-983AE3AD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33A77-5C04-44A9-A913-27AB33F1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55FF4-7CEC-4A3D-BE0B-DED996B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C135F-876E-434A-9F77-2E8298C3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C9134-1FE7-4C14-AE4F-148FBDC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398F2-4CF5-4DF9-A7FB-BAB20270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总体需求：功能需求与性能指标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39499-D810-49FC-A4C8-A76C65F0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01048-6010-4AAF-AE9D-8816180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功能需求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75ACF-E62B-413F-9CA2-DB71DD86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837D6-4E60-4281-B8F0-5B56420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7DE7B-F580-4E64-BD6A-EF795BE1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F1B4D-8545-4A3A-BD85-BDD8619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RTC守时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NTP校时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天气获取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56333-E566-4F29-ADDB-397C25F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40CF8-FB38-4EE7-B05C-E3114813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BA605-97AD-41B9-8733-D51068F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图形交互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440E2-6219-4C93-9382-1A49F857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LVGL界面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触控手势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全键盘输入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ED22D-E100-4D12-9609-1FB3007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8F290-CD13-434C-934C-77585DE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82AC4-2D67-4904-AE71-BCE66D4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多媒体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BF721-EB81-43CF-ACE5-DF27EFD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SD卡资源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图片/小说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MJPEG视频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0D273-D719-46E8-8C83-F86B720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04965B-10D8-4205-B358-BEBEADC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E2C546-9596-4FD5-94D6-96AC128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云端协同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A306D-F58C-4851-BB4C-66D1C69B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WiFi管理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MQTT通信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OneNET 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1B9F96-63C3-43CF-8E86-95E0368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A7892-3DE0-4EC7-8C23-F9C2F87B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0067E-93C9-4E94-9541-D94FBF6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系统维护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2E4A8-A24F-4875-B1B4-4AFE34F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本地OTA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云端OTA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554F56-D081-4551-B2C8-1531C2E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057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5625E-BE12-4FDC-8940-19C3D2A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AF3A89-D188-4020-89CB-1EC96034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3B3E9-BE1B-42E0-95BD-376EB4EB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5CBF23-9AD8-40D9-B8B0-C9FB2A8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28598F-6FBA-43AB-A686-D79241B2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多帧缓冲与异步刷新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2B7303-1F01-4BC7-8C58-82BEB57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AB8274-BE11-4AF8-A6D6-FB38A24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EB213F-99DC-4B3D-A9FF-AD8E7FF9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7CB31C-612E-4933-93FF-1F6523C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点击、滑动及时响应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FEF3D-9C4D-4EB8-B33F-8145550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6B3827-6E65-4669-8104-60347C15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120s / 3s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0E5B08-51CD-4D06-89AA-C53C422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休眠触发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D1C32F-22C3-4F37-86B4-EE71CF4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无操作轻休眠 / 长按深休眠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FA4E1D-B28E-430E-BD65-B0D28A7D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82FAC5-1759-4FCD-9906-5E3094BF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≥6次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1083B4-1C43-4A70-B50C-AB46FFC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网络重连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5F2A6D-F2D3-4F7C-A6AB-4CE2313E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弱网断连后自动重试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D467F2-78AF-4FE9-A398-32F5AE1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74E2D2-AAC8-446F-9083-471B57A2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备份分区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6D5740-DAFE-4515-9100-70F0049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OTA保护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A0D9A0-5B50-4ED2-85E5-256CEC56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写入非活动分区并校验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606E3E-19BA-4F83-BCD2-41687C5F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257A17-FBDF-437B-8652-3E970D70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29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  <a:p xmlns:a="http://schemas.openxmlformats.org/drawingml/2006/main"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B66EB9-3830-4CE9-8368-87DBD6A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48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休眠电流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940024-B171-4AA7-AC64-3E2DBDD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91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LightSleep / DeepSleep测试值</a:t>
            </a:r>
          </a:p>
        </p:txBody>
      </p:sp>
    </p:spTree>
    <p:extLst>
      <p:ext uri="{BB962C8B-B14F-4D97-AF65-F5344CB8AC3E}">
        <p14:creationId xmlns:p14="http://schemas.microsoft.com/office/powerpoint/2010/main" val="4767515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D0C4E-04FC-4981-AF3F-B687DFF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F1B47-46D6-44B4-A3F6-C68877D1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77467-EB2A-4DE9-A866-D258C665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0556A-547F-4D70-9632-8A969ADC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9FA33-03D3-4748-A46D-40136C8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5515D-1A05-4FD6-ABD0-9D65A52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D9FE9-332B-4428-83A2-6775809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D0B68-1910-4D28-9716-C85933FE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6C8FB-9808-4435-AB1B-7314229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B86F-E249-40DC-8780-EE2208B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E42D1-5B3D-47AD-9174-3E40F48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0F8CE-0E05-4657-BFB0-7F1C1AC9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EE5D-BED7-4963-84FC-905852D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08147-AECF-4F77-9243-27EC724E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CBD66-E291-4526-BDEE-1DFED6E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EE878-EAE7-4F60-9860-DE6BA5F0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系统架构：硬件支撑、任务协同与显示刷新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7E31B-D625-4960-8CA3-B3FEA50D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677A8-424C-4980-8841-51FE4159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B0611-8FD5-4336-BBA6-97513C2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D1FD7-A580-4C1D-B3B8-2F66FF58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67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5EEA2-8EBA-41C7-A850-E88FB47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9625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驱动LCD、触摸、SD卡、Flash、RTC、WiFi和电源模块；封装SPI、I2C、GPIO、文件系统和休眠唤醒接口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35C07-4E93-489E-82BC-4A970F2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95F22-F3A2-4DF8-BC4D-6D7B5E8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D1E8B-FB16-48F8-AF62-3704C5B8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44587-C413-4427-AE9B-536BA3E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00A39-772C-4AE1-8BBE-60A88653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24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A78BF-B3B4-44AD-8B51-4381F5D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FreeRTOS拆分时间、天气、存储、视频、OTA、功耗等任务；各任务彼此独立，任务间交互通过消息队列转发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CB44C-E07D-4194-920C-298F094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19D2F-F891-4ECC-991F-969A3A0C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7FBB4-ED3B-4EF2-8A5A-0E40F43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647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2C5D5-0241-442D-B4CF-655E10C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BB393-6236-490D-A1D2-A464890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1DC657-C0D0-43F5-B233-A42AC44F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统一承接业务状态、页面请求、进度信息和应用间控制消息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31511-987D-47B5-96B0-A843E23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9B8581-C363-4DF8-A7BA-F3D2209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9B2EA6-8B9E-4FF8-BE65-50634495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477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9CF506-F539-43C6-9A02-893C8ED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47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9A9D2F-7F71-4F69-8ADA-9732F9A6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238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351DD-6A97-4AC6-9236-825FFCD3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90625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LVGL显示线程读取队列消息，完成页面刷新、控件更新、事件分发和屏幕输出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2977497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88969-550B-46B0-B11C-15D6A872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3C1BE-5844-4401-AFE2-CC3B3468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28FA4-1BBB-4B84-9A6C-9E64456E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C6BAD-1FE2-430C-B1C5-67805A54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5606D-155D-462C-92D0-664F519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D7F4E-84BB-421D-A6EE-4F1EB214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1E666-F6D5-49CA-B73A-36FDC17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DECEA-A25E-4902-8ADC-1DB3179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B5BE6-95D0-49AC-8895-2E319D5C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002AD-7620-47F9-876E-C52A440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ECC6F-E27E-4A41-832B-76CBA13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086AE-BD6F-44A6-8528-106DAA2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429ED-1694-4BA3-A23A-BC9C5A19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C65C5-E244-4593-986D-46F7B7B3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6CF00-28AA-4F04-BB0A-6B967B09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6EC96-858F-406C-9F16-2E97F8B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硬件设计一：ESP32最小系统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34EDE-8276-4447-AE0E-05EA85E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4DE8B-8EA9-49CA-8BAC-2BAAFDF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E72B4-0A13-442B-AACA-1BD5FFA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E62A-B284-4914-9EB7-4C3443F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主控与存储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673ED-FC73-4225-B10A-F4E544C7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采用ESP32-S3R8作为主控，内部集成8MB高速PSRAM，用于显示帧缓冲、多媒体缓存和任务运行；外扩16MB串行Flash保存程序、资源和固件数据。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B13EB-BEA6-4DB6-808F-4CAEA20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78B79-B8F9-4A11-8089-AD5530A7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C76B6-D8ED-452A-9883-6D2F565A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时钟与下载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CB847-4025-480B-97E1-D418C96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配置40MHz晶振提供稳定主时钟；复位、启动配置和Type-C下载调试接口统一规划，便于固件烧录、调试和后期维护。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BADC3-D736-40F5-A932-0F4BA3FF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80C89-8A45-4C54-B397-102A8459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6EDC7-5B52-443A-9739-417D40EE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73DBE-F4F9-4221-8C87-DE99F081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主控集成2.4GHz WiFi无线能力，电路预留陶瓷天线及射频匹配网络，保证网络校时、天气获取、MQTT通信和OTA升级的连接基础。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C21EF6-6C1D-4DFC-82FC-823116A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2133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1CB8C0-ED55-4731-A394-8DBC001A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71498-0E63-4466-834A-38D8F0F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47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供电与滤波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3F4C0-05AE-4B3C-9AB9-8BB0BDA9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3.3V电源域配合去耦与滤波网络，降低纹波和高频干扰，提升高速SPI、外部存储和无线通信稳定性。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2218B-A68C-4531-BF55-A0B19803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0048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B90B5B-DF96-4028-8564-958BD83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387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设计重点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226FFF-7365-4216-B8A7-29A706C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3872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最小系统围绕算力、存储带宽、下载调试、射频连接和电源稳定性构建整机硬件基础。</a:t>
            </a:r>
          </a:p>
        </p:txBody>
      </p:sp>
    </p:spTree>
    <p:extLst>
      <p:ext uri="{BB962C8B-B14F-4D97-AF65-F5344CB8AC3E}">
        <p14:creationId xmlns:p14="http://schemas.microsoft.com/office/powerpoint/2010/main" val="7374861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37A49-08B5-487E-A3DF-1503A450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CA68B-5B18-4C06-8DD3-5EBA32B5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2C4D3-C93C-4787-9AF8-4DBEAB64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E991-930D-47CA-B4F3-433D93D3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B6780-B9E3-4029-A16E-C4D501A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BA230-9C0F-4738-AFE6-6232B8D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C44A6-4E07-4B5E-88A4-07E07764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F537-8A0D-48E7-8C2E-23C1E30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72ECE-0308-427F-9A4C-3C91DB5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8553F-AFF9-43CC-8DA3-BCE7C7B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DE67A-F17F-4999-BB02-172F9E6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38E00-1A66-4388-B7C4-7511021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666DC-9136-4F81-B639-1415B34D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BB00A-7AF9-442C-A589-ABF2B31F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D358E-BE0C-472D-87B4-F49C240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9A809-B235-447F-BBEA-C03F3F1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硬件设计二：显示触控、时间存储与电源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39A0F-382F-4160-BAE5-D3772EE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89BB6-78E7-4AE7-BA7F-58B06C17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88C91-A9A6-45A8-AD25-BCC25343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BF9D9-C263-48DB-817F-6C637A0D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显示触控屏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65C3A-EAE6-462D-8F7C-49F96126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1.83英寸240×284一体化模组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ST7789P3负责LCD显示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CST816T负责电容触摸检测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SPI-DMA刷新 + I2C中断触控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8F257-4E0A-449C-BCAA-797F81F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654B0-D58E-4B72-898B-940A2B7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0DF71-3D0F-4197-9CA1-43E746C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RTC与SD存储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556DE-8471-42E4-A6BD-FC1F517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SD3078独立RTC断电守时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Micro SD通过SPI挂载FatFS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保存图片、视频、小说和本地OTA固件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0C48E-37BC-481C-8746-6C11716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19595-1CC4-43E8-A769-C31F85D2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24D563-697C-4BD4-B428-652DCE7F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电源与休眠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15A3E-86F1-49FD-98D8-7AC483D0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锂电池充电模块提供安全充电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ME6217输出稳定3.3V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背光、WiFi和外设按需启停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8BA31-8377-45EA-B582-4960F18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791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6B0E87-AECC-4E07-A66B-D01BB2B7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2341C-0969-4212-AF19-474A8548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76800"/>
            <a:ext cx="744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主控提供算力和通信接口，显示触控负责交互入口，RTC与SD卡保障时间和资源，电源模块支撑低功耗运行。</a:t>
            </a:r>
          </a:p>
        </p:txBody>
      </p:sp>
    </p:spTree>
    <p:extLst>
      <p:ext uri="{BB962C8B-B14F-4D97-AF65-F5344CB8AC3E}">
        <p14:creationId xmlns:p14="http://schemas.microsoft.com/office/powerpoint/2010/main" val="1394704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2094C-85FE-4F88-BE70-A72F2A0B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95BC5-B136-4E11-8E19-08B2BD6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FFAC-851F-42DD-8130-95ABDD2A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F71B7-D3BE-4856-AD6F-C9D081D1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85AE7-E1AF-4973-B073-860A2035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74158-0FCC-488F-B6D6-E793DFF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C3CB4-5793-4BED-899A-C0089F8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ECB13-F031-42BE-9D79-3E6A3F0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F2583-EB41-409F-8123-5CE76E14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0682A-0C0B-4190-9922-DA1CAF9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D1B95-7FE8-45FA-AF64-2B48C02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F8FC5-C767-42D5-B656-7B9329E9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06EAB-6EFF-4B39-9CEE-D5283744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07DD6-259C-4EA2-A14E-F05ECED9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CB0FB-4DD3-49EF-A5F6-D6DCE92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B5BC7-43A6-401F-9954-B542B470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软件设计一：分层架构与任务划分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774CC-69E3-44B8-A835-D6FCC508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A17C0-906D-49FC-91B5-B8DF361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04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70904-0239-4E0B-A285-59355B9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0490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A736E-E8BF-4D54-8E6E-10EFA6D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D5937-3EDA-4C8D-8344-7DE489F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47775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LVGL统一显示刷新线程读取队列消息，完成页面刷新、控件更新、触控事件分发和屏幕输出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01824-FCE1-49B2-B34E-E43A2D0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1479C-2B5D-4EA5-8E54-97092F00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79813-6D4F-4A8E-9105-CB23A95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A565F-646D-4689-915B-F879CD1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551CE-B01E-48FA-9CAC-F2E43D1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43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577F1-62B8-477D-AEC2-C50EC71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95525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统一承接业务状态、页面请求、进度信息和应用间控制消息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15FC2-3C70-4AB4-99AC-8E7BFC4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D9A8A-9155-45CE-B4CB-DD8A0BA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0A5BA-44FD-4EA7-A032-0EEC82E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055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A4415-BEF3-411F-837A-BB0FF022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588A4-5C02-4DBE-9081-4DE101B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861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80CC8-F56F-4B7C-B4DE-5E163A1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62CC2-F628-4329-B149-035C4C60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时间 / 天气 / WiFi状态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0B2707-7B1F-4635-B46A-6D9BB53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5A81C-D975-4661-B635-83CCB66F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存储与多媒体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F58BD-C376-44C3-9597-BD35B66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SD扫描 / 小说 / 图片 / 视频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9349BF-57EC-4EAF-847B-02C4FA0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22EDC-FC7C-47EB-AFE9-4B8A8BE9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OTA与网络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CF46F8-BD77-4BD6-8C1E-5DE04411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本地升级 / 云端升级 / MQTT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9B78DB-AC2B-4691-AF8C-0AA76247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3F8E8A-7597-45BE-A7FD-FF322C48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功耗与游戏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CD2A5A-7E50-41E7-83A7-F874A72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休眠唤醒 / 页面状态 / 游戏逻辑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5970B-FFE6-4FBB-B482-DCE761D3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5CBE49-E7EF-49E0-A4E9-0BDCA457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B6EE00-E6C0-4006-ABF8-ED5B997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553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C74AD9-FE9F-4A29-8E8A-381274A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5FAEEA-3C1E-4FA5-8BAF-2273FF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CE919F-E145-47C0-8D2B-025B8A59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显示触控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2D5907-AE0F-40F3-8DF7-796BEB82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LCD / 触摸 / 背光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B35D76-AB7D-4B57-B0D6-6A51D4F5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CDFF09-AB21-428C-BC2B-F238CB49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存储时钟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2DAFEE-1B0F-466F-8D49-8BC5AE5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SD卡 / Flash / RTC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21D2CD-584F-48E6-A3AD-F87ADB75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5A2177-387F-4174-9D99-6D5F018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总线接口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DAD4D4-3A49-4F3E-926C-DB88D8F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SPI / I2C / GPIO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522E96-837F-4CB6-A17C-2034D44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68E995-FC34-415E-A79D-BD3F4A9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网络电源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EFF213-75CC-45D3-85FD-078DC30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WiFi / 供电 / 唤醒</a:t>
            </a:r>
          </a:p>
        </p:txBody>
      </p:sp>
    </p:spTree>
    <p:extLst>
      <p:ext uri="{BB962C8B-B14F-4D97-AF65-F5344CB8AC3E}">
        <p14:creationId xmlns:p14="http://schemas.microsoft.com/office/powerpoint/2010/main" val="1305608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23094-2898-4E19-944E-E0E1CBAF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A9E91-ABC8-4BED-BA67-1EB1DB7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98705-7C44-4473-9164-709D0B6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0210-6F37-48DA-9EE3-BEC23A49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433D3-BBDE-48F1-B66A-73024CE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0A8F2-B803-4464-A68D-054C9D2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2E2C1-DFB1-4913-ADBE-F0E8B20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8191B-7BF7-4697-BC2F-6799841A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1580C-3BDA-4E82-870C-1A21FED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731BA-2582-4E79-8E8C-DAB6444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4939B-6EA3-47BB-B565-EFBE36C1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F2DDB-1136-4714-983C-6003C356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D9325-B0E7-41D6-A0E1-05D1D884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034B0-F6C1-4EF7-AFB1-C19EFF9B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3C9FD-EEEC-4260-A2B5-4A27FA1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0C0E2-B6B1-4BF3-B158-3DA03935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软件设计二：核心应用流程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32340-C0D5-4DBA-8FBA-AC8D8DE5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D0A4A-B4E1-4609-AD9F-DECD3A68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37508-0932-44F1-AA0C-CEE076BD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6EAB6-166D-4F74-9A51-7B81F01C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多媒体资源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75156-0E3C-4A54-8C8A-5B39F15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SD卡扫描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路径解析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分块读取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图片/视频/小说显示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3299C-4FA8-4199-9A04-D885018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BDE48-69DA-480E-AE47-A374E03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4E584-D188-4824-B18A-5C6E2F62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89991-CF2D-4FB4-85B3-D2466D2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RTC读时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SNTP校准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写入SD3078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表盘同步显示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E18A9-A051-4888-82F2-A7147D8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174A4-71EC-4A60-BE8C-C64459A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713791-B3AB-4C20-8FDF-33DA7F47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OTA升级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CC2FD-47F2-4FEC-8986-C2CA2F8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本地或云端输入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写入备份分区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固件校验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重启或点击跳转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17DED-2672-4429-936D-AE0175D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FC95B-BFA1-434D-99D5-F64814F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587DC-13AF-43E3-81F7-620C3A8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CA0EA-C903-4190-80FC-77AED07F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空闲检测/长按按键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关闭背光与外设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设置唤醒源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进入休眠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69C09-EDB5-427B-AB16-5E0609CE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队列作用：业务任务只负责产生状态和数据，显示层只负责消费消息并刷新界面，从而降低多任务并发下的UI阻塞风险。</a:t>
            </a:r>
          </a:p>
        </p:txBody>
      </p:sp>
    </p:spTree>
    <p:extLst>
      <p:ext uri="{BB962C8B-B14F-4D97-AF65-F5344CB8AC3E}">
        <p14:creationId xmlns:p14="http://schemas.microsoft.com/office/powerpoint/2010/main" val="5827129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BD50A-DB40-436C-B985-4A4F9A1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01A99-7650-40B2-B641-0E820D90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D3CD9-61E7-44BC-9553-5C9E1C66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7811-FD51-4A75-84D1-5ACEBF8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AE7-AA67-4E18-B3D3-A74C4687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0588-A060-4736-84BB-1B3D7E5E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63C03-A3EC-481F-92B2-50A73843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E922A-9810-46F2-A22D-B7FE10B8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3C988-4292-4453-A515-266721C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D9AFC-36BF-401E-A18D-61F3FE6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B0723-DB10-41E2-B43A-053BC645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8743B-6C5F-4D3D-BE68-BC1C2BF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50DA6-B20B-4192-A0A0-4446FCE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6B251-84E1-4BE7-9679-C7B3449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53EDA-7805-4B1A-9169-5D19BE5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80E2B-D20F-4570-A84D-CBAB08B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系统调试一：功能测试结果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DAA4B-1079-449C-AE45-AD0E63C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CA475-EB77-4A2A-B725-5B0AFE0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57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87A65-39E8-40F6-B56A-4641EB3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75B98-B893-4A7F-BBF2-126494BA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41186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62630-B4B7-40D8-9083-ED64B16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287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2E64C-3D71-486A-A666-A2BDCF3B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表盘、主菜单、快捷面板切换正常；快速滑动时偶有轻微撕裂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0ADCE-5018-4BD3-9464-B52E8893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3BB20-88E9-4471-8E44-2FA86B65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D3BD3-8FAA-49F8-8CA0-DA7D8A91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37604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9525">
            <a:solidFill>
              <a:srgbClr val="20A8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C1256-4FE8-415E-8368-67B60131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70575-612C-43DA-90DC-C082F3B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支持SD卡图片浏览和壁纸更换；大图快速翻页存在读取延迟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EA89D-08FD-43F7-8B64-B1398C2F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67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FD0B7-5BF1-45E1-AE7B-ED7FED4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54E86-3ECF-482A-9A70-95BEAC8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36709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E480B-636E-4853-A30B-92409FEE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384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032DE-B59E-45D5-9F38-A28EF13B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MJPEG可连续播放，平均约25fps；高负载下会少量掉帧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B4EB5-A001-4943-A02C-621364A4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0FCBA-2864-4AAF-8485-5E90EB8D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FBE51-B6E9-458D-A0BF-2C11876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420814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3638F-7109-4A19-B26A-085BEFE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4332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EC155C-DA9F-4C00-8D5F-3371E31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TXT分屏读取稳定，支持断点续读和阅读位置保存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7CED4D-4517-42BE-93B3-5393F45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AA2D09-8B51-47B2-BDB3-6966868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E59340-4AA3-4708-A0B6-54074D0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4029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542B96-688C-4C30-93DA-2BC2021B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481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DBD6D7-F6CA-46A3-AAE1-2012525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WiFi、天气、NTP、OneNET通信、本地与云端OTA完成验证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A54970-30FE-4078-A94A-917937E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998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07DAC-8D08-4DCE-8D84-5D9FD469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76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F585CA-80F8-4531-8E37-BDCA25F2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733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核心功能均能运行，主要瓶颈集中在SD卡大文件读取、MJPEG解码刷新和快速手势下的局部显示撕裂。</a:t>
            </a:r>
          </a:p>
        </p:txBody>
      </p:sp>
    </p:spTree>
    <p:extLst>
      <p:ext uri="{BB962C8B-B14F-4D97-AF65-F5344CB8AC3E}">
        <p14:creationId xmlns:p14="http://schemas.microsoft.com/office/powerpoint/2010/main" val="17298773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D6649-A5D2-4640-BF28-20CE1F8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83C57-BB2D-4D60-A7C3-3573E00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92449-22E2-4246-A4D8-25FDCFF0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D9631-AC39-45BB-8D2C-2B4862E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0B85B-3D73-4950-96F0-80195E5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9BF24-0FB0-4806-B895-2EA954F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67E58-7555-432F-8526-A264B078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3BB2F-480C-40A6-95D1-9792CD2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E850C-C5C2-4ADC-A470-1E8E377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40E93-BD31-44E8-B3FA-3F65C1CE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78FC7-D8AB-4915-8FD7-6FDA422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8D2E4-EF33-4D35-91A2-7C3C1DA4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68028-EA4D-463C-8A02-2307C63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707C8-8CF3-401B-8A32-EEDA12DB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7F24B-78B5-4BC8-B17B-99AD6A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12F18-950D-4BFF-A506-7FCAE40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系统调试二：功耗与续航测试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71D4F-6F4F-4FB0-B69E-C19279EF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A5FC4-F225-4D1E-938D-86BD63C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100%亮度+WiFi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249C4-9D23-4D13-A1ED-7A5A48E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20D50-7D18-452D-A409-8B012FF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555"/>
          </a:solidFill>
          <a:ln xmlns:a="http://schemas.openxmlformats.org/drawingml/2006/main" w="9525">
            <a:solidFill>
              <a:srgbClr val="E25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780D0-B588-4E96-9C88-7BAFA4A0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0.233A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B0D9F-26CE-4528-9419-D017682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71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约1.9h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74C8B-C5DB-4E2E-8FF5-3F60AAF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10%亮度+无WiFi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D7298-2F7C-4193-8018-4A419E9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77C3F-8422-44E0-917F-0A99505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13277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D474D-DAE7-453C-9B5C-5C60FEDA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0.058A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A105-2F4A-4CB2-9C89-5119254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约7.7h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9D1D5-C890-4B0E-9035-20D1404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LightSleep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2D4DF-2DA6-4C55-80F3-D636DA1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7DD0A0-9A4B-4770-97CA-C5A2DE17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831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49916-6531-470B-A32D-719E9EB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CB642-EF4B-4630-A364-7B3C1202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813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约56h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4ED658-3AA9-4054-9CE5-00A4AF69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DeepSleep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846335-A94B-4777-BB79-617C219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204022-3D4E-425C-9208-83112E39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13735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9525">
            <a:solidFill>
              <a:srgbClr val="20A8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061D03-AADD-4796-AB94-129D9BF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ED5158-00AA-4707-845B-68948A67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862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约75h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7B8D1B-CB1E-4D08-853C-801148BD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理论续航变化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32300-D8D5-4ED4-BB46-AAAB2B0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43550"/>
            <a:ext cx="609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32E63-5DF8-40AA-A1C2-7334323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142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C961C7-CFDE-4CF3-9DE1-AA7A5B6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C7073A-AFF3-45ED-A665-AC421301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1.9h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9254C5-35BB-4293-A1F1-320FDFEB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6255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373F48-F06B-4C29-B69A-B3A09753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14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F67626-4CAB-4C61-8873-F0A7DCFF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7.7h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08963-C430-4F21-BA55-502B4F5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3F879C-369C-4A67-90F3-CE76C225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10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46BA65-B5B1-4959-85F9-167CC53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56h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6A9DA5-4D12-4C95-A972-1C4C1D8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6775D3-D1A6-4C4A-B99C-6FB41742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0EA53F-9F83-493A-85A5-AD0935AB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75h</a:t>
            </a:r>
          </a:p>
        </p:txBody>
      </p:sp>
    </p:spTree>
    <p:extLst>
      <p:ext uri="{BB962C8B-B14F-4D97-AF65-F5344CB8AC3E}">
        <p14:creationId xmlns:p14="http://schemas.microsoft.com/office/powerpoint/2010/main" val="9876810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E51D4-1221-43CB-A7E1-F12452C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D9412-5F3F-4C65-BCA9-274D6F7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19490-B8EA-4407-99F1-75A752C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066AC-196B-4001-A3F9-D903848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FFE99-F68D-451A-B1DB-20DE69A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EA672-A0B7-4CF0-B89C-1CAE12A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BA09E-31A3-4EEF-9B36-56BFF47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D058-19D9-422A-BD56-DFF6F30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0A4B6-6B36-40AA-B1D9-B72AD9A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16139-865A-4127-938E-F1A915E0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549BC-2B3E-4B06-A33B-FC8B7F2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849AA-0AA7-4101-B9AE-A2889DA2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3409C-EB5F-4DFB-847C-B2A182C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53238-2776-43E9-B590-A4EDCF7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349A8-8E2E-487D-9E86-AABF11C7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CF80F-CAE6-454D-AC6F-2BD12A59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14155-0C52-4396-AB10-F60F93F6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4F06B-5206-47D6-8197-D53B6D4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77ACC-3934-4108-84C2-A489DB0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7060D-A5C7-417D-B416-8B085BE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F4BCB-9E43-4FF4-A63D-ED647774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高负载下仍会出现画面撕裂、短暂停顿和掉帧。后续可引出LCD TE同步信号并接入ESP32-S3外部中断，在LVGL刷新中加入垂直同步；SD卡可由SPI升级为4-bit SDMMC接口，提高图片和视频读取带宽。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46D2A-16AB-42F7-A6CB-4FFE3A5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FBD4C-955A-4330-A0B9-A8B25679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6261D-02D2-41D3-B51B-7B91FA1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5241F-A1BA-428E-A8C2-5B81C952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当前LightSleep约0.008A、DeepSleep约0.006A，仍有优化空间。后续可加入负载开关或PMOS电源门控，在DeepSleep中切断非必要外设供电，仅保留按键或RTC域唤醒电路。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45F65-E9D5-4173-BBC6-22EB321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183F1-33FF-42F9-A729-4FBC5C2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DB2EB-A6B4-4C1F-9D46-C632000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52BB90-80F4-4F8F-BEE3-61C1DF20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现阶段RTC仍依赖主电池供电，主电池耗尽后可能丢失时间。后续可增加小容量法拉电容或贴片式可充电备用电池，保证断电后仍能维持基本走时。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4724C-4ABD-4849-8501-8DB9752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B50C1-7D64-482B-9712-D4A62E8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49544-6EEF-4357-BFF2-3617B52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EC451-C284-47D6-8A52-66CF0ED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243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3D打印外壳壁厚和装配间隙较大，屏幕FPC与主板存在垂直空间占用。后续可优化PCB和外壳结构，将FPC座移至主板背面并开过线孔，降低整机厚度。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B5F00-695F-47E5-B1F1-A33BF8E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065666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2026-05-26T05:21:37.7640000Z</dcterms:created>
  <dcterms:modified xsi:type="dcterms:W3CDTF">2026-05-26T05:21:37.7650000Z</dcterms:modified>
</coreProperties>
</file>