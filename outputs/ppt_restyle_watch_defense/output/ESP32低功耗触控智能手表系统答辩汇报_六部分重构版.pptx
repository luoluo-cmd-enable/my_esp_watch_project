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3120ed19fa4e41" /><Relationship Type="http://schemas.openxmlformats.org/officeDocument/2006/relationships/extended-properties" Target="/docProps/app.xml" Id="Rff38c0c9563a4d56" /><Relationship Type="http://schemas.openxmlformats.org/officeDocument/2006/relationships/officeDocument" Target="/ppt/presentation.xml" Id="R73eb2444d8af48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8911a1f03249ae"/>
  </p:sldMasterIdLst>
  <p:notesMasterIdLst>
    <p:notesMasterId xmlns:r="http://schemas.openxmlformats.org/officeDocument/2006/relationships" r:id="Rb3aedd4567e7465b"/>
  </p:notesMasterIdLst>
  <p:sldIdLst>
    <p:sldId xmlns:r="http://schemas.openxmlformats.org/officeDocument/2006/relationships" id="256" r:id="R64c327ba3e304897"/>
    <p:sldId xmlns:r="http://schemas.openxmlformats.org/officeDocument/2006/relationships" id="257" r:id="R374990970685480b"/>
    <p:sldId xmlns:r="http://schemas.openxmlformats.org/officeDocument/2006/relationships" id="258" r:id="R9b1042601197454d"/>
    <p:sldId xmlns:r="http://schemas.openxmlformats.org/officeDocument/2006/relationships" id="259" r:id="Rb5fbf73ff6a64dc0"/>
    <p:sldId xmlns:r="http://schemas.openxmlformats.org/officeDocument/2006/relationships" id="260" r:id="Rf1cd12f8e3074ecd"/>
    <p:sldId xmlns:r="http://schemas.openxmlformats.org/officeDocument/2006/relationships" id="261" r:id="R7dfce74130374c0a"/>
    <p:sldId xmlns:r="http://schemas.openxmlformats.org/officeDocument/2006/relationships" id="262" r:id="R4fbe04b8614e4584"/>
    <p:sldId xmlns:r="http://schemas.openxmlformats.org/officeDocument/2006/relationships" id="263" r:id="Rd4e3dea571774112"/>
    <p:sldId xmlns:r="http://schemas.openxmlformats.org/officeDocument/2006/relationships" id="264" r:id="Redae2b135a124450"/>
    <p:sldId xmlns:r="http://schemas.openxmlformats.org/officeDocument/2006/relationships" id="265" r:id="Ra5ea62d9c99e45da"/>
    <p:sldId xmlns:r="http://schemas.openxmlformats.org/officeDocument/2006/relationships" id="266" r:id="Rf5c801465a394dab"/>
    <p:sldId xmlns:r="http://schemas.openxmlformats.org/officeDocument/2006/relationships" id="267" r:id="Rb1270355bd7843b1"/>
    <p:sldId xmlns:r="http://schemas.openxmlformats.org/officeDocument/2006/relationships" id="268" r:id="Rff2e1b26230345e9"/>
    <p:sldId xmlns:r="http://schemas.openxmlformats.org/officeDocument/2006/relationships" id="269" r:id="R3fef78d2f19647c2"/>
    <p:sldId xmlns:r="http://schemas.openxmlformats.org/officeDocument/2006/relationships" id="270" r:id="R245a4539aada4424"/>
    <p:sldId xmlns:r="http://schemas.openxmlformats.org/officeDocument/2006/relationships" id="271" r:id="R82c0434620ea49c6"/>
    <p:sldId xmlns:r="http://schemas.openxmlformats.org/officeDocument/2006/relationships" id="272" r:id="Rbc80e84c4517419b"/>
    <p:sldId xmlns:r="http://schemas.openxmlformats.org/officeDocument/2006/relationships" id="273" r:id="R97999f45c72f4103"/>
    <p:sldId xmlns:r="http://schemas.openxmlformats.org/officeDocument/2006/relationships" id="274" r:id="R41ee29e804c64e65"/>
    <p:sldId xmlns:r="http://schemas.openxmlformats.org/officeDocument/2006/relationships" id="275" r:id="R75e8f968b42a4327"/>
    <p:sldId xmlns:r="http://schemas.openxmlformats.org/officeDocument/2006/relationships" id="276" r:id="Rd914549ef314402f"/>
    <p:sldId xmlns:r="http://schemas.openxmlformats.org/officeDocument/2006/relationships" id="277" r:id="Ra9840a1ca8cd4f3d"/>
    <p:sldId xmlns:r="http://schemas.openxmlformats.org/officeDocument/2006/relationships" id="278" r:id="R964bd69f0e5e4f32"/>
    <p:sldId xmlns:r="http://schemas.openxmlformats.org/officeDocument/2006/relationships" id="279" r:id="R4c44fc4eaf864ede"/>
    <p:sldId xmlns:r="http://schemas.openxmlformats.org/officeDocument/2006/relationships" id="280" r:id="R9fd6883945e042a8"/>
    <p:sldId xmlns:r="http://schemas.openxmlformats.org/officeDocument/2006/relationships" id="281" r:id="R80994deeb05649b4"/>
    <p:sldId xmlns:r="http://schemas.openxmlformats.org/officeDocument/2006/relationships" id="282" r:id="Rf70c909b6ed04b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911a1f03249ae" /><Relationship Type="http://schemas.openxmlformats.org/officeDocument/2006/relationships/theme" Target="/ppt/theme/theme1.xml" Id="R36a499d50fc647e9" /><Relationship Type="http://schemas.openxmlformats.org/officeDocument/2006/relationships/notesMaster" Target="/ppt/notesMasters/notesMaster1.xml" Id="Rb3aedd4567e7465b" /><Relationship Type="http://schemas.openxmlformats.org/officeDocument/2006/relationships/presProps" Target="/ppt/presProps.xml" Id="R18ec95c1a20a4b34" /><Relationship Type="http://schemas.openxmlformats.org/officeDocument/2006/relationships/viewProps" Target="/ppt/viewProps.xml" Id="Raf87ba0ddd3047de" /><Relationship Type="http://schemas.openxmlformats.org/officeDocument/2006/relationships/tableStyles" Target="/ppt/tableStyles.xml" Id="R2b0873141c3049d9" /><Relationship Type="http://schemas.openxmlformats.org/officeDocument/2006/relationships/slide" Target="/ppt/slides/slide1.xml" Id="R64c327ba3e304897" /><Relationship Type="http://schemas.openxmlformats.org/officeDocument/2006/relationships/slide" Target="/ppt/slides/slide2.xml" Id="R374990970685480b" /><Relationship Type="http://schemas.openxmlformats.org/officeDocument/2006/relationships/slide" Target="/ppt/slides/slide3.xml" Id="R9b1042601197454d" /><Relationship Type="http://schemas.openxmlformats.org/officeDocument/2006/relationships/slide" Target="/ppt/slides/slide4.xml" Id="Rb5fbf73ff6a64dc0" /><Relationship Type="http://schemas.openxmlformats.org/officeDocument/2006/relationships/slide" Target="/ppt/slides/slide5.xml" Id="Rf1cd12f8e3074ecd" /><Relationship Type="http://schemas.openxmlformats.org/officeDocument/2006/relationships/slide" Target="/ppt/slides/slide6.xml" Id="R7dfce74130374c0a" /><Relationship Type="http://schemas.openxmlformats.org/officeDocument/2006/relationships/slide" Target="/ppt/slides/slide7.xml" Id="R4fbe04b8614e4584" /><Relationship Type="http://schemas.openxmlformats.org/officeDocument/2006/relationships/slide" Target="/ppt/slides/slide8.xml" Id="Rd4e3dea571774112" /><Relationship Type="http://schemas.openxmlformats.org/officeDocument/2006/relationships/slide" Target="/ppt/slides/slide9.xml" Id="Redae2b135a124450" /><Relationship Type="http://schemas.openxmlformats.org/officeDocument/2006/relationships/slide" Target="/ppt/slides/slide10.xml" Id="Ra5ea62d9c99e45da" /><Relationship Type="http://schemas.openxmlformats.org/officeDocument/2006/relationships/slide" Target="/ppt/slides/slide11.xml" Id="Rf5c801465a394dab" /><Relationship Type="http://schemas.openxmlformats.org/officeDocument/2006/relationships/slide" Target="/ppt/slides/slide12.xml" Id="Rb1270355bd7843b1" /><Relationship Type="http://schemas.openxmlformats.org/officeDocument/2006/relationships/slide" Target="/ppt/slides/slide13.xml" Id="Rff2e1b26230345e9" /><Relationship Type="http://schemas.openxmlformats.org/officeDocument/2006/relationships/slide" Target="/ppt/slides/slide14.xml" Id="R3fef78d2f19647c2" /><Relationship Type="http://schemas.openxmlformats.org/officeDocument/2006/relationships/slide" Target="/ppt/slides/slide15.xml" Id="R245a4539aada4424" /><Relationship Type="http://schemas.openxmlformats.org/officeDocument/2006/relationships/slide" Target="/ppt/slides/slide16.xml" Id="R82c0434620ea49c6" /><Relationship Type="http://schemas.openxmlformats.org/officeDocument/2006/relationships/slide" Target="/ppt/slides/slide17.xml" Id="Rbc80e84c4517419b" /><Relationship Type="http://schemas.openxmlformats.org/officeDocument/2006/relationships/slide" Target="/ppt/slides/slide18.xml" Id="R97999f45c72f4103" /><Relationship Type="http://schemas.openxmlformats.org/officeDocument/2006/relationships/slide" Target="/ppt/slides/slide19.xml" Id="R41ee29e804c64e65" /><Relationship Type="http://schemas.openxmlformats.org/officeDocument/2006/relationships/slide" Target="/ppt/slides/slide20.xml" Id="R75e8f968b42a4327" /><Relationship Type="http://schemas.openxmlformats.org/officeDocument/2006/relationships/slide" Target="/ppt/slides/slide21.xml" Id="Rd914549ef314402f" /><Relationship Type="http://schemas.openxmlformats.org/officeDocument/2006/relationships/slide" Target="/ppt/slides/slide22.xml" Id="Ra9840a1ca8cd4f3d" /><Relationship Type="http://schemas.openxmlformats.org/officeDocument/2006/relationships/slide" Target="/ppt/slides/slide23.xml" Id="R964bd69f0e5e4f32" /><Relationship Type="http://schemas.openxmlformats.org/officeDocument/2006/relationships/slide" Target="/ppt/slides/slide24.xml" Id="R4c44fc4eaf864ede" /><Relationship Type="http://schemas.openxmlformats.org/officeDocument/2006/relationships/slide" Target="/ppt/slides/slide25.xml" Id="R9fd6883945e042a8" /><Relationship Type="http://schemas.openxmlformats.org/officeDocument/2006/relationships/slide" Target="/ppt/slides/slide26.xml" Id="R80994deeb05649b4" /><Relationship Type="http://schemas.openxmlformats.org/officeDocument/2006/relationships/slide" Target="/ppt/slides/slide27.xml" Id="Rf70c909b6ed04b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03a0daa5c7d45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7b813ce05d43d3" /><Relationship Type="http://schemas.openxmlformats.org/officeDocument/2006/relationships/notesMaster" Target="/ppt/notesMasters/notesMaster1.xml" Id="R3f1fa21590d846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900fac849b47f9" /><Relationship Type="http://schemas.openxmlformats.org/officeDocument/2006/relationships/notesMaster" Target="/ppt/notesMasters/notesMaster1.xml" Id="Ref07bdfc2d6d44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9f5b37d52444f2" /><Relationship Type="http://schemas.openxmlformats.org/officeDocument/2006/relationships/notesMaster" Target="/ppt/notesMasters/notesMaster1.xml" Id="R1b4e63d391024a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9e20fd10394171" /><Relationship Type="http://schemas.openxmlformats.org/officeDocument/2006/relationships/notesMaster" Target="/ppt/notesMasters/notesMaster1.xml" Id="R858ddcbbb1a44a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38d606e4ab4938" /><Relationship Type="http://schemas.openxmlformats.org/officeDocument/2006/relationships/notesMaster" Target="/ppt/notesMasters/notesMaster1.xml" Id="R1a2cc72225364d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38decb04034149" /><Relationship Type="http://schemas.openxmlformats.org/officeDocument/2006/relationships/notesMaster" Target="/ppt/notesMasters/notesMaster1.xml" Id="Ra5c6c162beb941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01513d5d4c4b60" /><Relationship Type="http://schemas.openxmlformats.org/officeDocument/2006/relationships/notesMaster" Target="/ppt/notesMasters/notesMaster1.xml" Id="Rd70f350cf3774f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bb3c4695aa4645" /><Relationship Type="http://schemas.openxmlformats.org/officeDocument/2006/relationships/notesMaster" Target="/ppt/notesMasters/notesMaster1.xml" Id="Rbdd8fa954f4a49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8be6c48c3c4fd5" /><Relationship Type="http://schemas.openxmlformats.org/officeDocument/2006/relationships/notesMaster" Target="/ppt/notesMasters/notesMaster1.xml" Id="Rcfa019876f2d4d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caf6c3b0bb4fc1" /><Relationship Type="http://schemas.openxmlformats.org/officeDocument/2006/relationships/notesMaster" Target="/ppt/notesMasters/notesMaster1.xml" Id="Rcab4ea8e8e4b44a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0a3a6e22b9a4ebf" /><Relationship Type="http://schemas.openxmlformats.org/officeDocument/2006/relationships/notesMaster" Target="/ppt/notesMasters/notesMaster1.xml" Id="R7dc660cbda0e4b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7e31e38c5c488a" /><Relationship Type="http://schemas.openxmlformats.org/officeDocument/2006/relationships/notesMaster" Target="/ppt/notesMasters/notesMaster1.xml" Id="R32d3eae9b26d4b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390ac258624e71" /><Relationship Type="http://schemas.openxmlformats.org/officeDocument/2006/relationships/notesMaster" Target="/ppt/notesMasters/notesMaster1.xml" Id="R9ad99a8c63d6438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1a3e85c71804f25" /><Relationship Type="http://schemas.openxmlformats.org/officeDocument/2006/relationships/notesMaster" Target="/ppt/notesMasters/notesMaster1.xml" Id="R144530b97fc048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88799322f54ed4" /><Relationship Type="http://schemas.openxmlformats.org/officeDocument/2006/relationships/notesMaster" Target="/ppt/notesMasters/notesMaster1.xml" Id="Raa3aea6ec0ee46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dfe004f73634b61" /><Relationship Type="http://schemas.openxmlformats.org/officeDocument/2006/relationships/notesMaster" Target="/ppt/notesMasters/notesMaster1.xml" Id="Red9a8f9eff62445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b5aa28ed38e4a81" /><Relationship Type="http://schemas.openxmlformats.org/officeDocument/2006/relationships/notesMaster" Target="/ppt/notesMasters/notesMaster1.xml" Id="Rb07bd4e0792340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e62336d3304bcf" /><Relationship Type="http://schemas.openxmlformats.org/officeDocument/2006/relationships/notesMaster" Target="/ppt/notesMasters/notesMaster1.xml" Id="R5ad2e5ac82a940b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976a5d9c05444e5" /><Relationship Type="http://schemas.openxmlformats.org/officeDocument/2006/relationships/notesMaster" Target="/ppt/notesMasters/notesMaster1.xml" Id="R087581d4069b431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20d71edbf6342e3" /><Relationship Type="http://schemas.openxmlformats.org/officeDocument/2006/relationships/notesMaster" Target="/ppt/notesMasters/notesMaster1.xml" Id="R11cd20a8432b47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dd74dc5c1454c56" /><Relationship Type="http://schemas.openxmlformats.org/officeDocument/2006/relationships/notesMaster" Target="/ppt/notesMasters/notesMaster1.xml" Id="R1728b7f1cd4549a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0e61a672677437b" /><Relationship Type="http://schemas.openxmlformats.org/officeDocument/2006/relationships/notesMaster" Target="/ppt/notesMasters/notesMaster1.xml" Id="Ra9ca48215bd0421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e1f3b7b1a24444c" /><Relationship Type="http://schemas.openxmlformats.org/officeDocument/2006/relationships/notesMaster" Target="/ppt/notesMasters/notesMaster1.xml" Id="R425156a272d74bb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5fee7e2d93b4095" /><Relationship Type="http://schemas.openxmlformats.org/officeDocument/2006/relationships/notesMaster" Target="/ppt/notesMasters/notesMaster1.xml" Id="R147f8ad33cfd4ee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4797538f3b04142" /><Relationship Type="http://schemas.openxmlformats.org/officeDocument/2006/relationships/notesMaster" Target="/ppt/notesMasters/notesMaster1.xml" Id="R60b452d55b654ce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f9af9db313d49d0" /><Relationship Type="http://schemas.openxmlformats.org/officeDocument/2006/relationships/notesMaster" Target="/ppt/notesMasters/notesMaster1.xml" Id="R4f0cc5daa3df457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90bcd4f7e42461a" /><Relationship Type="http://schemas.openxmlformats.org/officeDocument/2006/relationships/notesMaster" Target="/ppt/notesMasters/notesMaster1.xml" Id="R56ac8ac01bc844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b50d2e7e0e472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4dd086cee554a43" /><Relationship Type="http://schemas.openxmlformats.org/officeDocument/2006/relationships/slideLayout" Target="/ppt/slideLayouts/slideLayout2.xml" Id="R35112dfec36a48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112dfec36a48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4bded0c3a349a4" /><Relationship Type="http://schemas.openxmlformats.org/officeDocument/2006/relationships/notesSlide" Target="/ppt/notesSlides/notesSlide1.xml" Id="R9669aec29e474b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a9705eab784e16" /><Relationship Type="http://schemas.openxmlformats.org/officeDocument/2006/relationships/notesSlide" Target="/ppt/notesSlides/notesSlide2.xml" Id="R35eb6a410cd344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d87f17426c4433" /><Relationship Type="http://schemas.openxmlformats.org/officeDocument/2006/relationships/notesSlide" Target="/ppt/notesSlides/notesSlide3.xml" Id="Rddcc900d024842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7fe1711f8a48f1" /><Relationship Type="http://schemas.openxmlformats.org/officeDocument/2006/relationships/notesSlide" Target="/ppt/notesSlides/notesSlide4.xml" Id="R5775908e97364c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4652cb2f024434" /><Relationship Type="http://schemas.openxmlformats.org/officeDocument/2006/relationships/notesSlide" Target="/ppt/notesSlides/notesSlide5.xml" Id="R9eb96a8b62634a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4df3a6892e4930" /><Relationship Type="http://schemas.openxmlformats.org/officeDocument/2006/relationships/notesSlide" Target="/ppt/notesSlides/notesSlide6.xml" Id="Rdd07bbe8a7904b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39c4f21883494c" /><Relationship Type="http://schemas.openxmlformats.org/officeDocument/2006/relationships/notesSlide" Target="/ppt/notesSlides/notesSlide7.xml" Id="R999e23b6759143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c0f0d7abb64364" /><Relationship Type="http://schemas.openxmlformats.org/officeDocument/2006/relationships/notesSlide" Target="/ppt/notesSlides/notesSlide8.xml" Id="R00e5a3eec92743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329c2e58e54390" /><Relationship Type="http://schemas.openxmlformats.org/officeDocument/2006/relationships/image" Target="/ppt/media/image.png" Id="R9b4d2b5b1de446e3" /><Relationship Type="http://schemas.openxmlformats.org/officeDocument/2006/relationships/notesSlide" Target="/ppt/notesSlides/notesSlide9.xml" Id="R73158e5d199f45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35c9c80aff407e" /><Relationship Type="http://schemas.openxmlformats.org/officeDocument/2006/relationships/notesSlide" Target="/ppt/notesSlides/notesSlide10.xml" Id="R78e28026e98844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a6b3a56df543a8" /><Relationship Type="http://schemas.openxmlformats.org/officeDocument/2006/relationships/notesSlide" Target="/ppt/notesSlides/notesSlide11.xml" Id="R96e25328630b4e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c6e3b53ced463e" /><Relationship Type="http://schemas.openxmlformats.org/officeDocument/2006/relationships/notesSlide" Target="/ppt/notesSlides/notesSlide12.xml" Id="R3c5703b538b64d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319bb6e80c4870" /><Relationship Type="http://schemas.openxmlformats.org/officeDocument/2006/relationships/notesSlide" Target="/ppt/notesSlides/notesSlide13.xml" Id="R4104775180494f1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de498543b344f1" /><Relationship Type="http://schemas.openxmlformats.org/officeDocument/2006/relationships/image" Target="/ppt/media/image2.png" Id="R93828038e955440c" /><Relationship Type="http://schemas.openxmlformats.org/officeDocument/2006/relationships/image" Target="/ppt/media/image3.png" Id="Re36cc834092a4cae" /><Relationship Type="http://schemas.openxmlformats.org/officeDocument/2006/relationships/notesSlide" Target="/ppt/notesSlides/notesSlide14.xml" Id="Rb7a1a1254a8f41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a4e6c1cbf944e0" /><Relationship Type="http://schemas.openxmlformats.org/officeDocument/2006/relationships/notesSlide" Target="/ppt/notesSlides/notesSlide15.xml" Id="Rc204d65af29646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fcb9293c9c4b8f" /><Relationship Type="http://schemas.openxmlformats.org/officeDocument/2006/relationships/notesSlide" Target="/ppt/notesSlides/notesSlide16.xml" Id="R2c778571c73849c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4d75f2bb9a4a32" /><Relationship Type="http://schemas.openxmlformats.org/officeDocument/2006/relationships/image" Target="/ppt/media/image4.png" Id="R0412bb237a89484c" /><Relationship Type="http://schemas.openxmlformats.org/officeDocument/2006/relationships/notesSlide" Target="/ppt/notesSlides/notesSlide17.xml" Id="Rd6098cfcfbe04e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fed0361c434709" /><Relationship Type="http://schemas.openxmlformats.org/officeDocument/2006/relationships/image" Target="/ppt/media/image5.png" Id="R6742679b5d524061" /><Relationship Type="http://schemas.openxmlformats.org/officeDocument/2006/relationships/notesSlide" Target="/ppt/notesSlides/notesSlide18.xml" Id="R3ecf4ecc973e41c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87a37448b24d29" /><Relationship Type="http://schemas.openxmlformats.org/officeDocument/2006/relationships/image" Target="/ppt/media/image6.png" Id="R2273792737464a4f" /><Relationship Type="http://schemas.openxmlformats.org/officeDocument/2006/relationships/notesSlide" Target="/ppt/notesSlides/notesSlide19.xml" Id="R20c320cc2000425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0335f997d24216" /><Relationship Type="http://schemas.openxmlformats.org/officeDocument/2006/relationships/image" Target="/ppt/media/image7.png" Id="Rf706e6bf40e94a9e" /><Relationship Type="http://schemas.openxmlformats.org/officeDocument/2006/relationships/notesSlide" Target="/ppt/notesSlides/notesSlide20.xml" Id="R63fa11e6b4c844a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22177bda424e09" /><Relationship Type="http://schemas.openxmlformats.org/officeDocument/2006/relationships/notesSlide" Target="/ppt/notesSlides/notesSlide21.xml" Id="R1ad4821a088240f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6a6793c26b49d4" /><Relationship Type="http://schemas.openxmlformats.org/officeDocument/2006/relationships/notesSlide" Target="/ppt/notesSlides/notesSlide22.xml" Id="R34ac7e2ac7d84e2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5f0e6fb45f4af1" /><Relationship Type="http://schemas.openxmlformats.org/officeDocument/2006/relationships/notesSlide" Target="/ppt/notesSlides/notesSlide23.xml" Id="Rf25e1602399d462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5bc263d3a14e6b" /><Relationship Type="http://schemas.openxmlformats.org/officeDocument/2006/relationships/notesSlide" Target="/ppt/notesSlides/notesSlide24.xml" Id="R34f310515bd649c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23a679589b442c" /><Relationship Type="http://schemas.openxmlformats.org/officeDocument/2006/relationships/notesSlide" Target="/ppt/notesSlides/notesSlide25.xml" Id="Rf0102127cece498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c1690d593446d3" /><Relationship Type="http://schemas.openxmlformats.org/officeDocument/2006/relationships/notesSlide" Target="/ppt/notesSlides/notesSlide26.xml" Id="Rc9120a59616b474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b492a70a55459c" /><Relationship Type="http://schemas.openxmlformats.org/officeDocument/2006/relationships/notesSlide" Target="/ppt/notesSlides/notesSlide27.xml" Id="R173a2e5170434a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53B233-611E-402D-A88C-6E774ADA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0D533-B233-4AA0-AC51-A2E6BBDE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43250" y="-2571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2543D-32EA-4BED-B746-D531E159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0" y="-2095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C40E2-B162-430E-BC6C-5C83D0A2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818A0-4CAA-4E71-AAF1-4E7E4CE6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11B48-26BB-4F7C-BB55-3E5E50B4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769CD-DDBB-46C0-AC1E-A9DAC75B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11465-C93F-44AF-9FD5-8BD5DBC8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4A412-FAB8-4A38-AB07-E6E97AE9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42ACD-B64C-48E6-9C0D-7DEE5774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A11F58-0902-445F-9F0E-C4F39DBC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3566B-C61F-4A03-BEFD-BF39D97A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19180-84D8-4651-9E41-FEACD030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88FB3-87CE-4E5E-B1D2-976875B0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B22CB-56C0-46C7-AC5A-169E6E91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AB5D22-07E2-4F7C-B414-28B42AA7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A56178-ACD2-4858-B7EE-D7AF40D2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3A9CF8-307C-4349-AE45-568BF60D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86C3CA-D423-4804-9CEA-B963A9FA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BBB134-D3C9-4A57-B90D-DFC9F0C7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CAFDBE-6A05-480D-B954-9579188A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FFF1B-D014-407C-BED8-9794FCF5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0FF16-89FB-4383-9B9B-5C6EBA80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9055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HENAN POLYTECHNIC UNIVERSITY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F38DFA-332C-4C7E-BB0B-F91C885A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90650"/>
            <a:ext cx="552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基于ESP32的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5A465E-5811-4D95-8731-F3A89C5D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24050"/>
            <a:ext cx="933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低功耗触控智能手表系统设计与实现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16609C-4711-46E2-B52A-E7030995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956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51EE2A-E5E2-4E8B-A8E4-CD5A4C46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194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rPr>
              <a:t>毕业设计答辩汇报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C3A7B7-2217-4730-ADA2-8F2CA77A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95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答辩人：吴钰锟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9D6C89-2E8D-421B-A3E4-F1F6B1E8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指导教师：乔美英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B5AC31-2C3B-481A-8B28-FF03A529E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769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EAF3FF"/>
                </a:solidFill>
                <a:latin typeface="Microsoft YaHei"/>
                <a:ea typeface="Microsoft YaHei"/>
                <a:cs typeface="Microsoft YaHei"/>
              </a:rPr>
              <a:t>ESP32-S3R8 / FreeRTOS / LVGL / 低功耗 / OTA</a:t>
            </a:r>
          </a:p>
        </p:txBody>
      </p:sp>
    </p:spTree>
    <p:extLst>
      <p:ext uri="{BB962C8B-B14F-4D97-AF65-F5344CB8AC3E}">
        <p14:creationId xmlns:p14="http://schemas.microsoft.com/office/powerpoint/2010/main" val="13864279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5115CD-9B98-4A46-9723-6DE0F3CE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0C537-3C7C-494C-913D-426F1D28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-2476500"/>
            <a:ext cx="771525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CCBE9-0667-486F-AA22-A4112A68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91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B76556-499E-4A8A-98A2-E9EA73BB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838200"/>
            <a:ext cx="1752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2E22EB-1A24-4305-85C7-6FFE9EFD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38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534BDC-ABA4-4173-BDBF-86F46C8A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11455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4D179-90C3-40F1-A5B4-91673A09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288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B8B06-BDA4-40D9-9797-D90DA8B4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098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背景、小标题与技术路线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DB168-3B87-48DC-9BB3-187286D0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00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FDABC-AC96-4075-B115-E34A28D0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27660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85EC4-4F70-49A7-BBB3-1C87C846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908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总体设计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DA230-940E-4018-82E7-F71AF349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7187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器件选型与分层架构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A8803-B12E-435E-A97F-A2138D46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81C01B-BF8E-41A8-9D40-F2EFA637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43865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827753-8EED-4471-AC02-96FA0031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529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A2E8C-704F-4F64-858A-1F48B70D6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7339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最小系统、显示触摸与电源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1C7FB-6F2D-4633-98B2-0A21111C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383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115B35-6C23-4F9F-94E9-71743974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11455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01CAD-18DC-43E6-8B55-FF41FF65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288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软件设计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04097B-BF6D-44A7-81DD-042D6207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098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任务划分与核心流程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073EF-4F96-4349-ABB6-3C70C274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B823B7-C6E7-468E-84C6-9B8BDD5E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27660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18692-D5B5-4551-949D-75704C8C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9087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系统调试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1A2D3-5D96-49B5-A15F-BA27BDBD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7187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功能、功耗与问题分析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7FB22B-BDEE-4705-85FB-2192B34C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2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404E72-348E-488B-BAAF-530EF9D7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438650"/>
            <a:ext cx="304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0B6443-9B26-4D14-900B-5421CEB9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52925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4D154E-F306-403E-A8E6-99B49D9D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33925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DE8FA"/>
                </a:solidFill>
                <a:latin typeface="Microsoft YaHei"/>
                <a:ea typeface="Microsoft YaHei"/>
                <a:cs typeface="Microsoft YaHei"/>
              </a:rPr>
              <a:t>实现内容与后续优化</a:t>
            </a:r>
          </a:p>
        </p:txBody>
      </p:sp>
    </p:spTree>
    <p:extLst>
      <p:ext uri="{BB962C8B-B14F-4D97-AF65-F5344CB8AC3E}">
        <p14:creationId xmlns:p14="http://schemas.microsoft.com/office/powerpoint/2010/main" val="13567290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B52EC84-8825-42BA-AB56-993C865A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46127-43ED-4017-8EEB-7E62E620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43250" y="-2571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2A000-5F8F-4D66-BCDC-AC16EC29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0" y="-2095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BD9DE-AA05-43F3-8018-CC11D27A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0D610-B0F7-4051-881D-F4723630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F1BA8-5AE7-4562-8165-7C0F1E9F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2EC39-2F8E-4951-B60D-5495A730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C09BC-D465-4AF8-B98C-FA7672D5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7467AA-C5AC-44E3-97CD-8833189D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8EE01-818B-441E-A3CF-B93D3739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718E3-1768-458B-8703-584EF4F5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F3DDF-647C-446C-AF51-60FED680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525FC-E250-4DE2-93E3-5D0D8E49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6C5C48-6237-4B0D-A314-07FDBDFB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536D9-F471-46D3-AEAF-414088DD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22222E-DD3E-4A4B-B20C-625B6F73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A0FDB-E531-4C75-82C9-54866D48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F8BD9-B136-44E7-A9D4-D4631CBC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9949F8-A011-4CC5-9470-3C5A1329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AD9FC-97F1-4554-BEAB-02E71F83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A10E1D-BC29-4043-813C-F97393DD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36CB64-ABD6-4B8B-B4E8-1823545D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BD6F46-1016-46DC-A2AC-59AAF121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63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D01C2-AD74-4B57-8912-63AF7453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CA4E58-7907-45EE-AB9B-0CFA9E9E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绪论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7D5B29-C2F0-4BCD-B60F-E16C2473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rPr>
              <a:t>从智能手表市场背景引出本课题的设计路线</a:t>
            </a:r>
          </a:p>
        </p:txBody>
      </p:sp>
    </p:spTree>
    <p:extLst>
      <p:ext uri="{BB962C8B-B14F-4D97-AF65-F5344CB8AC3E}">
        <p14:creationId xmlns:p14="http://schemas.microsoft.com/office/powerpoint/2010/main" val="14551325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DD84A6-D9D2-4D6E-A403-E0FF2467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1BCA7-C981-40FA-B571-34A199BC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CB3BB-57BE-454E-8BCF-E13F5BAE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3FB84-E3AA-4750-AECA-BE804C42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0B91D-EAAD-4F7B-BE45-3CEA148A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4660C-92E8-48D3-95A5-C8B755E6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F8F94-3327-4878-A944-8FD059EE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C901D-7EB4-41AB-A02E-B95E2EC4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研究背景：常见智能手表路线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939A3-9757-4AFD-8310-61302AF4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4698D1-D3DB-4694-BE01-5C1F3950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45720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2CD18-5032-4E2D-B30E-3880084F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952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7A4D8-F60B-4464-A5D1-ECA96DE8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2405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高端品牌路线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66B1A-1701-4DF4-9564-5ACDF872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0"/>
            <a:ext cx="40767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苹果、华为、三星等品牌通常采用高集成SoC、成熟操作系统和完整生态服务。其优势是操作体验流畅、传感器与算法完善、佩戴体验较好；不足是研发投入、物料成本和整机售价较高，不适合低成本教学样机直接复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0CDBC-E922-4639-B676-B0148407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52600"/>
            <a:ext cx="45720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54C481-74F2-4F38-8F9C-68169727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52600"/>
            <a:ext cx="952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D22CD2-A464-4E78-9C3F-54FCF0CD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2405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国内常用低成本路线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484CA0-BD90-4AC1-A813-A09BFB25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81250"/>
            <a:ext cx="40767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低成本手表市场常采用杰理、珠海鸿芯等定制化手表芯片。芯片厂商会提供已写好的手表Demo SDK，厂家通过宏定义配置、界面素材替换和局部功能微调，就能较快形成可量产产品。该路线开发周期短、投入少、落地快，但底层架构和产品基调容易被SDK锁定，深度定制需要重新理解厂商封装逻辑。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3687EA-130A-4AC5-B765-A5004B66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67300"/>
            <a:ext cx="971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F633F8-EE88-419A-871D-45E376FB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006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引出问题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43493-C6D0-4D94-AAD7-38B0860D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162550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现成SDK适合快速量产，但产品容易同质化；本课题希望从底层硬件、任务调度和UI刷新机制出发，验证一套更开放的实现路径。</a:t>
            </a:r>
          </a:p>
        </p:txBody>
      </p:sp>
    </p:spTree>
    <p:extLst>
      <p:ext uri="{BB962C8B-B14F-4D97-AF65-F5344CB8AC3E}">
        <p14:creationId xmlns:p14="http://schemas.microsoft.com/office/powerpoint/2010/main" val="3007066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1C068E-9D61-4FCE-AD02-DE0339B6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0E183-F012-4C5D-BA55-CB572E71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17973-D76C-4BFA-9345-3473B13F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92F93-2B71-4735-BF12-59970651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2B6DA-20ED-478A-956C-B4A27799C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6E2FF-34C7-4513-9986-4F6B54D8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CD715-078C-455E-82E6-60564057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50571-F4F8-4D2D-A779-D4ED4B1F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本课题方案：开放MCU平台下的手表原型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71C89-D82F-4135-A898-B49F6BB5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8B0E1-5B6C-4CC8-A479-D061E484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57350"/>
            <a:ext cx="676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ESP32-S3R8 + FreeRTOS + LVGL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99EE27-6335-4556-B23C-5A90F600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44577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6659EC-0487-4892-8481-BA08E45A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8765C-035D-4019-BD77-A4BD12D5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798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不依赖封闭手表Demo SDK，从硬件驱动、任务调度到UI刷新自行搭建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37D73-E63D-40CE-83BB-BB04E65E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3B236-DA5B-4648-921A-06726F61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52800"/>
            <a:ext cx="798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用FreeRTOS拆分存储、网络、OTA、多媒体与显示任务，降低互相阻塞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525B3-6E98-46A7-B5EF-D6F738DC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71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E0EB25-5BCE-41AF-9F62-50F300CE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86200"/>
            <a:ext cx="798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用LVGL和GUI Guider构建小屏交互界面，便于快速调整页面与功能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80A9E-38A3-4144-B8F2-B63305AE8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05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B6BD04-A750-4B45-8500-89F5761F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19600"/>
            <a:ext cx="798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保留WiFi、SD卡、RTC、OTA和低功耗接口，便于后续扩展传感器与云端功能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CA53CA-5528-4234-81B9-EADBF906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74E3A3-9CAA-4F9F-8A29-5ED61C52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669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240×284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06FF94-FABA-41E3-9D86-A6A6C958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显示分辨率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3E40DD-0935-44E9-8612-1D4C4FA8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622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1.83英寸触控屏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2DD124-ADE7-461E-98E0-05CE5BC8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90900"/>
            <a:ext cx="200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32CE24-5E97-4B2B-8BB6-3B5CBD22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双级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521BF3-538F-4193-847D-40FB5972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33850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休眠策略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D7DDBB-8171-4BA4-A3D2-7271F5D1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9580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轻休眠与深休眠</a:t>
            </a:r>
          </a:p>
        </p:txBody>
      </p:sp>
    </p:spTree>
    <p:extLst>
      <p:ext uri="{BB962C8B-B14F-4D97-AF65-F5344CB8AC3E}">
        <p14:creationId xmlns:p14="http://schemas.microsoft.com/office/powerpoint/2010/main" val="11301598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76A550-6BC4-4688-86D6-8506A9D4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9610B-64F8-435C-85E7-74E1BAC6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9477C-FED1-472D-8DDC-D2F261D0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69B21-F412-4481-8ED2-E49F32D1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6DA47-B826-4E04-A76A-4E060817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497D4-A346-4373-9114-FF8A2AE2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C281C-0C17-4D6E-A4B3-B73308F8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2E328-3F82-428F-B90C-E5F08684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系统设计需求与性能指标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F66B8-975B-41BB-B2DE-FD0D304B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D9631-B73A-46DE-8A9E-5D609126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设计需求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1DB3B-774F-4DD5-A388-524C3C1F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3527F-9410-40E7-B2F7-C043842E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DC49E-AE0F-48D0-9481-A1AC4AC6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14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基础显示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50043-1A74-467C-8830-2848BB5E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表盘、日期、时间、壁纸切换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A0D07-6528-46F3-A4D4-1CF055DE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98120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225E7-461D-4278-A79D-7D8836A5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336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A26BA5-85B7-4A17-B124-0840E61F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14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触摸交互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07FB76-6055-48FF-9FCA-E5D68166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717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点击、滑动、返回、快捷面板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FBD90-203D-4240-BC57-46ED1621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8120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FB815-EA44-430C-A1F3-EDD401BA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336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F1A083-6A9B-4FD3-9C58-C3812B79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114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本地资源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8030A3-191E-4012-936D-7752B3F2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717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SD卡图片、MJPEG视频、TXT小说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0B61F-7621-47CE-A9D1-514A1168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8120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C97AA3-62EE-4111-B5BF-41379CAD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47D2DB-E290-434A-9A98-2A3F37B2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联网维护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05A7B7-4641-4083-A63E-4B23F470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717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WiFi、天气、NTP、MQTT、OTA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473F24-6F77-4A16-8EC6-200B9F22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81200"/>
            <a:ext cx="17526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72247E-EC1F-4FF6-A6DE-FFA27B68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33600"/>
            <a:ext cx="361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CBBD91-9C4E-477B-A34F-A9066D86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14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低功耗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6A03B5-D998-46AF-A5EE-4FA07795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71750"/>
            <a:ext cx="1409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轻休眠、深休眠、按键唤醒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61AE54-E79F-487E-B425-B7D46CE0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0553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9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93B36B-ABDB-4C9C-A2A8-A8C76D55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性能指标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DEE989-07E8-4B4B-90B7-102F4347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504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8FBE0A-B1BE-40F4-B30D-2BF42272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≤50ms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FECBBE-2D8D-45A1-876D-99639683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387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触控响应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6AE2D7-A775-4FB7-9B2A-7EDBEE43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0065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点击与滑动及时反馈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625B4B-402D-4342-AD46-3589C414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95750"/>
            <a:ext cx="1504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827F56-F0D9-4B84-9CCA-E882210D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0530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约25fps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B3F295-B011-4B33-9F6D-39F2A519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8387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7E09D60-FDF1-41AB-B4C3-17D70CE4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0065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普通MJPEG连续播放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0A42E7-C164-4514-A66B-7FBBF000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1504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07D1BE-3C7A-4B7C-8478-3CE20141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0530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120s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CA33C5-88D8-4F9C-99FA-465C5BE8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387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轻休眠触发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BE1385-D863-4BC0-B479-48A7A477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0065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无操作自动进入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828848-6690-4E5C-B694-B908CB7C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1504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14C931-3F36-4C2B-AB5A-BC0CFF5F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0530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约3s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A373F2-202C-4EE7-BD02-14D07E92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387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深休眠触发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19965C4-1841-4897-81D2-B068FF90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0065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长按确认键进入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4DB409-A45C-4F96-B87D-6655A291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1504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283EC7-DBDE-4504-82A2-665A7C3E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0530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0.008A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40CB1F-13DC-4F6A-83CB-2B7F4C6A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387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轻休眠电流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B7AFFF-DC5B-45A8-A881-C0F71314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0065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关闭背光与部分外设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C0C5D98-C215-4BD0-AB3A-6B736128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95750"/>
            <a:ext cx="1504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CC3DC7-5343-4C0D-9276-C51335BC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05300"/>
            <a:ext cx="1314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0.006A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5ACF30-1C06-41D2-9079-9AB3AB07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838700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深休眠电流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BF91BA-D135-48BD-B23A-620C7F3D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200650"/>
            <a:ext cx="1162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仅保留必要唤醒条件</a:t>
            </a:r>
          </a:p>
        </p:txBody>
      </p:sp>
    </p:spTree>
    <p:extLst>
      <p:ext uri="{BB962C8B-B14F-4D97-AF65-F5344CB8AC3E}">
        <p14:creationId xmlns:p14="http://schemas.microsoft.com/office/powerpoint/2010/main" val="10937323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ED64CD-BCC8-4DA0-AD99-F6A03989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04D654-7B12-42A4-906B-4B8DA60A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43250" y="-2571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80726-7321-45D2-B0B3-03B49AF1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0" y="-2095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AE277-0979-408B-84CE-01779E52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9069C-D76C-44B8-B1D2-3AC40F19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EFDE82-4C58-4881-ABA4-1806D08A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7A62C-062A-48D0-AE43-C72FFBD1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E0C3D-60C1-438D-BB2A-1689076C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B07C2-C164-4088-8E39-861F56E6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084927-7249-4336-A086-4F488BE7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E0906-4D2B-4C29-A93C-308B4E19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38B45-3248-4452-A752-1825507A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82AD2-B965-423A-A970-0A923F59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33B3C-B78E-4EEA-A24F-8E598B40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E582A-6D55-4070-BFCD-589F4558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AC50FC-4839-4B1D-AA25-D7D96598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770638-3CA5-4CA4-883A-BF7FB370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E3267-C42D-45CE-942B-7D42648A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73EAB-77F2-4883-8536-4B239C19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E454E0-4A29-4D6E-80EB-9C43097A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290D9D-7720-4A45-92D1-5EBAD71E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26438-CA37-4913-A498-45F21916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0193DA-F6A0-46CF-A152-FE2EC084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63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BBA5FC-0295-4DF2-B5B0-4BB416CE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F18B52-D45E-4C3F-8CAF-03D86388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总体设计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582D58-D40D-41BE-A72C-925C2C10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rPr>
              <a:t>器件选型、功能边界与系统分层架构</a:t>
            </a:r>
          </a:p>
        </p:txBody>
      </p:sp>
    </p:spTree>
    <p:extLst>
      <p:ext uri="{BB962C8B-B14F-4D97-AF65-F5344CB8AC3E}">
        <p14:creationId xmlns:p14="http://schemas.microsoft.com/office/powerpoint/2010/main" val="1054453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D1E2D2-F355-4266-9C7A-8AC577E7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FCEAA-47B6-4A6E-8864-22A225B1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8C862-E4A9-4D90-8C29-67FF21D3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303DF-C1C9-4B3F-A86C-626BA6F4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ADB24-FFE3-4644-8EDF-8A3F077D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ECC5B-AC3E-4597-A3CA-D651A6B6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2B0C04-6F40-461A-9C92-A66348BF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28BF82-A6F1-43A2-BDFB-6066704B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总体方案：核心器件与功能边界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ED631-A96D-4D5D-A608-CC5BB1CD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25693-EE83-4ECF-848B-07BED033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8669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DE02C-F5D9-4D1D-B148-C147A321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9525">
            <a:solidFill>
              <a:srgbClr val="38548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3757AE-19D5-4259-853B-5149F4FE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主控平台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75D09-FE1B-471B-8C53-53BC211E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562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ESP32-S3R8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双核240MHz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8MB PSRAM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51483-C577-4C7C-82F6-C61FB2A6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52600"/>
            <a:ext cx="18669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9B85E-C512-44C5-A315-BBAD7A04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7526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9525">
            <a:solidFill>
              <a:srgbClr val="22A7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47D71-DCF4-442E-9AC5-9F258A82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859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显示交互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08457F-2A52-4951-A8F9-B07E0A85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590800"/>
            <a:ext cx="1562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1.83英寸触控屏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ST7789P3显示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CST816T触摸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53493D-7B7C-400A-8E10-B2A22150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52600"/>
            <a:ext cx="18669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BBDCA8-8422-4481-8E43-E54B83C5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526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9525">
            <a:solidFill>
              <a:srgbClr val="20A6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F0CA2-893C-46E0-B8F0-4B5F262A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8859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存储时间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FD62DD-C576-471B-AF39-ECAB4010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590800"/>
            <a:ext cx="1562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W25Q128 Flash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Micro SD卡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SD3078 RTC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2285BD-DEF9-498E-B360-C808961E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52600"/>
            <a:ext cx="18669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F52F6A-307C-48BA-A159-8E2DC7CA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7526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1B"/>
          </a:solidFill>
          <a:ln xmlns:a="http://schemas.openxmlformats.org/drawingml/2006/main" w="9525">
            <a:solidFill>
              <a:srgbClr val="F2A21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492AF5-DDC2-462B-86A3-0CA35E65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859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软件支撑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573104-5F11-4611-9FF0-9BD40197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90800"/>
            <a:ext cx="1562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FreeRTOS任务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LVGL界面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GUI Guider辅助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4DEF10-D72A-466B-A27F-F925A6F4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52600"/>
            <a:ext cx="18669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58B8BC-2938-4932-ADEE-3852F7A6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52600"/>
            <a:ext cx="18669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B"/>
          </a:solidFill>
          <a:ln xmlns:a="http://schemas.openxmlformats.org/drawingml/2006/main" w="9525">
            <a:solidFill>
              <a:srgbClr val="E35D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5B4670-D18D-4D4F-9082-A635271F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885950"/>
            <a:ext cx="1638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联网维护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B582F3-7D31-4A63-AD06-C8FF47B3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90800"/>
            <a:ext cx="1562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WiFi连接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天气/NTP/MQTT</a:t>
            </a:r>
          </a:p>
          <a:p xmlns:a="http://schemas.openxmlformats.org/drawingml/2006/main">
            <a:pPr algn="ctr">
              <a:def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本地与云端OTA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B88654-7EA8-4938-BDEA-2A3FF85F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19650"/>
            <a:ext cx="990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266271-6863-4CB1-9588-BFDCA4E7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总体边界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9A3F42-1F52-4759-A4AC-8F692B8C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339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硬件提供显示、触摸、存储、时钟、网络和电源能力；软件完成任务调度、界面刷新、数据读取、网络协同与低功耗控制。</a:t>
            </a:r>
          </a:p>
        </p:txBody>
      </p:sp>
    </p:spTree>
    <p:extLst>
      <p:ext uri="{BB962C8B-B14F-4D97-AF65-F5344CB8AC3E}">
        <p14:creationId xmlns:p14="http://schemas.microsoft.com/office/powerpoint/2010/main" val="181244399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64213D-44C9-4F28-B39F-6ED5B0ED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8B0F2-F59C-43A9-B932-D244BFB6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78CCD-14C0-4864-AEC1-72000A37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54D85-6CA6-42F1-8FF4-779E8E73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A3A47-D67E-4E76-9B8C-A128BF4A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BB756-1B1B-4730-836C-1BEB2154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C9F2C-E5AE-4A72-A894-AF499DD71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7DA4D-E538-42B6-94A6-17F023B8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总体架构：硬件支撑、任务协同与显示刷新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C0435-5612-4DA9-AD72-EDE74C6F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647C23-50B6-4E90-8411-46681E36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66850"/>
            <a:ext cx="8096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d2b5b1de446e3"/>
          <a:stretch xmlns:a="http://schemas.openxmlformats.org/drawingml/2006/main"/>
        </p:blipFill>
        <p:spPr>
          <a:xfrm xmlns:a="http://schemas.openxmlformats.org/drawingml/2006/main">
            <a:off x="889955" y="1581150"/>
            <a:ext cx="7306940" cy="4114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746C2-9DB3-4202-A84A-1B7C5157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383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EDF6F-9C76-4A25-978B-D9C9EB7F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57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87AD8-0D9E-4372-8D67-2358A824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717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硬件层封装显示、触摸、存储、时钟、网络和电源能力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3847C-5583-421C-B72F-8FA63DAB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553C57-DE30-4CC8-A2BD-C40639E9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应用层按功能拆分为系统服务、OTA、多媒体、网络和存储任务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0FF0EF-1A46-40F4-93A1-1B35FFBE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D2487-8CDD-4F76-93B5-B206FE57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433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应用层状态变化统一写入异步消息队列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C50F26-1C83-4BD2-94C6-FA037C98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314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D7767-2EA0-4687-95D2-A19CCBC9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29100"/>
            <a:ext cx="2247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显示层消费队列消息，完成页面刷新、事件分发和屏幕输出</a:t>
            </a:r>
          </a:p>
        </p:txBody>
      </p:sp>
    </p:spTree>
    <p:extLst>
      <p:ext uri="{BB962C8B-B14F-4D97-AF65-F5344CB8AC3E}">
        <p14:creationId xmlns:p14="http://schemas.microsoft.com/office/powerpoint/2010/main" val="13038874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D65AF4-D1D2-421D-A165-0A80C3F5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9B257-EE4B-4947-BF1D-644AF3AB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43250" y="-2571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FABA8-CBE4-498C-82EC-EEBB14CC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0" y="-2095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D0130-083F-4423-9F5B-888AB075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0FF75-D2AF-4308-9FE9-BDC1E9867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4E0AA1-DB49-4391-96BA-2FD4B56E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BBBCB-D55D-49FA-9116-7BAAF332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D700D6-7B62-49A0-909B-005302604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48D5E-BFDB-42ED-AC37-3F02E3EE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3EB0E-9B9D-4F61-B413-23123F34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03CB9-773E-4681-B341-A23B766F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80496B-1FF4-4953-8EAC-E9F08536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9032C2-B7DA-4195-A295-AEEDC876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0F0F7-7504-4C78-8D30-D4779616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1B4795-432D-43E1-81C5-F4319234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FE1A9E-D271-49ED-9A22-4158CB4E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4EF9A-CF06-4C62-9A48-F6CD3639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DA59F8-33E0-49F4-A5E3-C47B5297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AB4EFE-C21B-40F7-8C5D-E841523F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EFEF8-487A-403B-AEFE-F49C9B6C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C48E74-5182-44F9-80A1-9F31928F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CBAD4-893F-40FB-B7C3-93DFAE6A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4BCD36-0A6E-4C36-B040-B3C9E087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63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3B1552-A34C-42A7-93CA-71FE3F00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9809C6-48DB-493D-86E7-F1D0CF31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硬件设计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54C342-E175-4BD2-B0B8-1BA28990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rPr>
              <a:t>围绕最小系统、显示触摸、存储时间和电源路径展开</a:t>
            </a:r>
          </a:p>
        </p:txBody>
      </p:sp>
    </p:spTree>
    <p:extLst>
      <p:ext uri="{BB962C8B-B14F-4D97-AF65-F5344CB8AC3E}">
        <p14:creationId xmlns:p14="http://schemas.microsoft.com/office/powerpoint/2010/main" val="35514736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C5DC31-F4C2-4F22-BE73-01F0205B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E97B5-0168-4D86-99B7-6B909187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7CFA00-CB84-45D0-AD9F-53ADD6F3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B15FC-1EEA-4FA7-B27B-5FEFEEDA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643E1-17CE-435E-894A-8EA85D50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7EDBE-C28F-47E2-9ECB-EA6EAEE5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5C6AF-ED6A-4A9E-B1D2-22208306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24936-EE75-41A7-8F6A-9D3E297E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最小系统：ESP32-S3R8芯片级设计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16651-4AD3-44A8-9143-C3AE261E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EB51EE-672E-4978-BDD6-A769662C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4857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EC139F-3254-49AA-9378-C72EFB72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53222-3936-41EB-81BD-0057CFD3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24050"/>
            <a:ext cx="436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ESP32-S3R8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5AD731-0DF4-4718-9CB4-998424EA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436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双核32位处理器，最高240MHz；片内合封8MB PSRAM，用于图形缓存、多媒体缓冲和任务运行空间。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349E9-61B4-49EB-AE5D-3ABD2AB2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4857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516793-6F86-44D8-8190-CDCB400D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5260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CE715-F1A5-4555-A81A-F9F75136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36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W25Q128 Flash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3D29BC-0992-42B3-BABC-41B6C842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81250"/>
            <a:ext cx="436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外扩16MB串行Flash，用于程序固件、图像资源、配置参数和升级备份等非易失性存储。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144481-058E-4B88-A3A1-0394C1D7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4857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A996A-44AE-4E42-87A9-0E271370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8F2B1-792C-4F5C-91BA-904B0C26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436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40MHz晶振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1FF869-51CD-405D-877E-A4A75CBF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57650"/>
            <a:ext cx="436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为主控提供稳定系统时钟，同时配合复位、启动配置和下载控制电路完成可靠启动。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F7413F-3AB3-4544-9DFC-27E4C10A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4857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A2CE2C-2F9F-45E0-B43B-3CD44CE4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29000"/>
            <a:ext cx="95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A8C311-BAB0-4932-8319-D94ADB25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00450"/>
            <a:ext cx="4362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射频与天线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57C2B6-6FA8-48C9-9D3A-10A344A71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57650"/>
            <a:ext cx="4362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2.4GHz陶瓷天线与匹配网络用于WiFi链路，布线和阻抗控制影响无线稳定性。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837B60-C1D2-4CA9-8745-D2E36078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425F8D-561B-46E0-8EA8-00202A04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10200"/>
            <a:ext cx="885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设计重点：芯片级布板提高空间灵活性，同时需要重点保证电源完整性、时钟稳定性、射频匹配和高速总线信号质量。</a:t>
            </a:r>
          </a:p>
        </p:txBody>
      </p:sp>
    </p:spTree>
    <p:extLst>
      <p:ext uri="{BB962C8B-B14F-4D97-AF65-F5344CB8AC3E}">
        <p14:creationId xmlns:p14="http://schemas.microsoft.com/office/powerpoint/2010/main" val="206073632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6EA03A-11C0-47F5-B087-FB483D72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6ED9E-6FE2-480B-9DA0-33E97544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0AC4C-08D4-439C-A9FA-870329A7F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838DEB-F423-4FD4-9D99-2A7EB592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C39D3B-AD54-455E-A9E5-5AC19E81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D296F-51A7-4D3F-874C-BFFDD402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BF4AD-5280-4D24-A992-3DED1AEF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2C33E0-0EEC-4825-8274-62E1BF5E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显示触摸、时间与存储接口设计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A8A71-720B-455F-92E7-960663AB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2DDFA-83B2-458C-B993-AEC533C1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E4E7A-D398-412B-87C5-C4CDA153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95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C7171-F9E2-4DFC-A1D0-28F40514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66900"/>
            <a:ext cx="2838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显示触摸模组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4D384-4C72-476D-B6B1-DD5D013F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28384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1.83英寸240×284一体化模组；显示端采用ST7789P3，通过SPI与DMA搬运提高刷新效率；触摸端采用CST816T，通过I2C与中断实现坐标读取和唤醒。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0B3D8C-46C5-4ABC-A78C-91230ACB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954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A9340-3E55-443A-B9A0-537A29B1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95450"/>
            <a:ext cx="95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C37D8-B44B-4495-BE80-60FD1AC5C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66900"/>
            <a:ext cx="2838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时间与存储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B500CD-81CC-4684-BBED-5205DCB0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24100"/>
            <a:ext cx="28384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SD3078独立RTC承担断网守时、时间同步和事件记录；Micro SD卡作为图片、视频、小说和本地OTA固件的大容量外部存储。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6BFCA-1E7C-4EC0-99CE-9AE77199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9545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0186E-CAC2-4367-A60D-BC3BB58E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95450"/>
            <a:ext cx="95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2B5967-474B-424A-9C44-D58B616D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66900"/>
            <a:ext cx="2838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下载调试接口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EB66E-E112-4425-AA97-BDC4CFD4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24100"/>
            <a:ext cx="28384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Type-C接口统一承担供电、固件下载和调试通信；复位与启动配置电路配合完成程序烧录和异常恢复。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A3C330-D8A4-42E7-AA76-74E17E83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81600"/>
            <a:ext cx="9601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A277E-D0B5-401E-8F3C-014A5617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76850"/>
            <a:ext cx="9144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硬件链路：SPI负责高吞吐显示和存储，I2C负责触摸与RTC等低速外设，GPIO负责复位、背光、卡检测和休眠唤醒。</a:t>
            </a:r>
          </a:p>
        </p:txBody>
      </p:sp>
    </p:spTree>
    <p:extLst>
      <p:ext uri="{BB962C8B-B14F-4D97-AF65-F5344CB8AC3E}">
        <p14:creationId xmlns:p14="http://schemas.microsoft.com/office/powerpoint/2010/main" val="55952169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4888A6-F6C9-4CE3-A6E3-F349123E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A3AB1-4A7D-411C-B0EF-D5A9B0FC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19C26-1C23-423B-825B-EF9BCF56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FFE28-AA72-447F-95F3-D57B9A89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94BBD-69C3-4C6C-B865-478C1545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AB445-31EB-4A7B-BCB4-182B9629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DBEC2-BC5B-491D-9091-766863C5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CA235B-3114-4D56-8482-7C212143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电源路径：充电、稳压与休眠唤醒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DDA7E-F3A8-45B9-8423-48C0CB78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5EB03-AF4C-48F0-BC4F-A7AA4C54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2286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E46F2-F682-4BF4-A322-2A29C155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240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3.0-4.2V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95AC0-7FFC-4E5B-885D-C7EB8C92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锂电池输入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DD0A9-D198-4970-8EB6-5B158AF0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单节锂电池随电量变化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F7FC2-A2EB-4469-87FE-D958A1A9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14500"/>
            <a:ext cx="2286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84E4DD-CE23-43F6-AD78-E82D4FA8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240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3.3V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3AE5B-8117-45C3-926C-7F345C3E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574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系统供电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E4A9A-336A-4EBF-AA68-21FD8413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194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ME6217低压差稳压输出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550C3A-8490-4219-9F0A-A645FB50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2286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3D2566-AE96-4205-AB75-409CF496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5V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3C3EA-C78F-49ED-B1A3-E805A450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574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Type-C充电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3CE412-A2E0-4FA2-82BE-05B0785D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194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充电状态硬件指示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85FCA9-3D90-46CF-BB53-83D92BA0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286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7609A-B3C6-4E42-A0E9-DC85272B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2405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GPIO7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E2A589-AE9F-48D7-A8E5-CC3E71E1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574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深休眠唤醒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9DE2A5-DA35-4C77-A9AA-33A80C63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19400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C6078"/>
                </a:solidFill>
                <a:latin typeface="Microsoft YaHei"/>
                <a:ea typeface="Microsoft YaHei"/>
                <a:cs typeface="Microsoft YaHei"/>
              </a:rPr>
              <a:t>实体按键防误触唤醒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0CD2E7-FC77-4B89-85BE-792F3FCD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906FAE-FFFC-460B-A1C7-F12A3F98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05250"/>
            <a:ext cx="864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输入与输出端配置滤波和去耦电容，降低纹波与瞬态干扰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00AB6E-3D4E-4119-B2BA-CE67E913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B0FFDA-4255-471F-97E9-6B695689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38650"/>
            <a:ext cx="864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充电芯片提供过流、过压和温度保护，提高电池安全性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BCAA7E-9223-4A89-99E3-74B43C8F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57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560F74-6CDD-4000-8B35-ABA9B70E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72050"/>
            <a:ext cx="864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LightSleep保留快速唤醒能力，DeepSleep关闭更多资源以降低待机功耗</a:t>
            </a:r>
          </a:p>
        </p:txBody>
      </p:sp>
    </p:spTree>
    <p:extLst>
      <p:ext uri="{BB962C8B-B14F-4D97-AF65-F5344CB8AC3E}">
        <p14:creationId xmlns:p14="http://schemas.microsoft.com/office/powerpoint/2010/main" val="205802937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9C24EB-63C7-416E-80D8-08D05454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F2D6D-B022-4E5B-81C5-8BAA3C53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0B935-CE3A-4A6D-BB1A-089E019A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A2AAF-2606-4F10-9A48-063A8551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74569-62BE-433E-A049-D2A85A59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46B34-579A-4F95-96E7-5164E7B8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195BA-3A46-4709-9A45-E343EA7B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D6C9C-96A5-45A0-A05A-E5300646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硬件实物：主板器件与屏幕连接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A2279-A71D-492E-8087-5D9F39CB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8A26D-0CB8-4984-9263-C820AD19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4953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28038e955440c"/>
          <a:stretch xmlns:a="http://schemas.openxmlformats.org/drawingml/2006/main"/>
        </p:blipFill>
        <p:spPr>
          <a:xfrm xmlns:a="http://schemas.openxmlformats.org/drawingml/2006/main">
            <a:off x="1731735" y="1619250"/>
            <a:ext cx="2899229" cy="38671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6920E6-524E-4976-952F-35CE7601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432B11-9041-4C4D-8780-F5FDB030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468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主板正面与主要器件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F8FCCD-12CD-496B-A3BF-C6B1CE0C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4953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6cc834092a4cae"/>
          <a:stretch xmlns:a="http://schemas.openxmlformats.org/drawingml/2006/main"/>
        </p:blipFill>
        <p:spPr>
          <a:xfrm xmlns:a="http://schemas.openxmlformats.org/drawingml/2006/main">
            <a:off x="7351485" y="1619250"/>
            <a:ext cx="2899229" cy="38671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817415-06FB-421F-B8E6-10680F24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3122F-FBB5-4E1F-A424-A738357B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81150"/>
            <a:ext cx="468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触摸屏FPC连接结构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487256-B43F-48EE-9331-1F4DA628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53100"/>
            <a:ext cx="9829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04CD1-B038-4FAE-A6C8-4F910965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52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实物调试重点：确认Type-C供电与下载、Micro SD卡座、SD3078 RTC、W25Q128 Flash、ESP32-S3R8主控以及屏幕FPC连接可靠。</a:t>
            </a:r>
          </a:p>
        </p:txBody>
      </p:sp>
    </p:spTree>
    <p:extLst>
      <p:ext uri="{BB962C8B-B14F-4D97-AF65-F5344CB8AC3E}">
        <p14:creationId xmlns:p14="http://schemas.microsoft.com/office/powerpoint/2010/main" val="132854404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8A3511-A246-4D33-BA4C-44687DFF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826461-C6F7-4C12-A985-2FAEF145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43250" y="-2571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6C4F9-E4B7-4151-A7C5-5490C860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0" y="-2095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A00EB-11DE-4AF6-97F4-0B3D4E8E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4F4FC-DAD6-4A6E-8C6A-E66452D9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7A183D-AE71-468D-81FA-1DC97CA9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B63CE3-CF03-4F88-92A5-3B6AA34F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ADAC9-1241-4A53-844F-7FFF5A8E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97F52-3A67-40C8-AA3F-5DE759E7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462B5-CB1E-4E2E-B30F-949F5997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6AAB4-0876-4037-9B42-562AAE76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707A8-3102-493D-B785-52C8E48A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DD3E43-4CBC-4328-97A1-D3E76B78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B92601-D387-41F7-8812-4BD8E317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E42137-A5DC-47E3-A6B3-5568803B8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B9B785-6D0C-4686-A68D-EE01F8E7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61C862-31AE-458F-B1B2-E18993BC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70C24-7F7F-4110-8CB8-63FBA3C1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2212D-D6EB-4A6C-8802-BAE9DCA60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3D55C-5994-490F-A5A7-355BC4A7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6342C-E18D-4EC5-BC9F-3CFD74DF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7E94D-E9B4-470E-B847-07CAFDDE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E3B54-44E0-4EC5-AEF7-7B39C3A0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63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75E685-3419-4ABE-A979-0B6BB491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4665A3-BAC0-4FA2-9125-AAECF57E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软件设计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6D7531-DB86-4CF5-858A-1A797B93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rPr>
              <a:t>用FreeRTOS划分任务，用消息队列连接业务与显示</a:t>
            </a:r>
          </a:p>
        </p:txBody>
      </p:sp>
    </p:spTree>
    <p:extLst>
      <p:ext uri="{BB962C8B-B14F-4D97-AF65-F5344CB8AC3E}">
        <p14:creationId xmlns:p14="http://schemas.microsoft.com/office/powerpoint/2010/main" val="28888813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21A2F2-EBBC-4A0C-B249-EB2DF716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91B01-252B-4262-88C5-84897468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E4BCD-6AF9-4BC6-9EE6-B40CF879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3F7A3-9D8F-40E4-8CAC-6986A7B1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1E733-B820-4464-83C1-4B35FCC5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91D7B-46C2-4F4F-ACE4-F42BC9EF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0B9F0B-B6AA-47CF-AF06-F96EEBAB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3531D-5A6B-433A-AA6A-031DC8B4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软件架构：从底层驱动到界面刷新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38C07-EB99-4CC1-8A8A-A9DBCEE1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B2A68-3E72-451B-89E5-A0CBF384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38300"/>
            <a:ext cx="9791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F6E6C-EB4F-4AFB-9AC5-950AB877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383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96271-98A0-4812-8AF5-FAFAB30C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78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硬件层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9B568E-62AF-4D2E-992D-0DDEE100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52600"/>
            <a:ext cx="695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ST7789、CST816T、SD卡、Flash、RTC、WiFi、电源</a:t>
            </a:r>
          </a:p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通过SPI/I2C/GPIO等驱动封装为上层接口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B45ED-A233-425D-877B-AF864EA3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622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21E885-E3D4-4787-AF62-BE36F9EF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622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121FC-3319-4C71-866F-E79F7E90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9791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44822-B477-4737-B41C-5368C4E6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3A7728-E895-4948-A2F1-64FCD49A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E7E334-7159-43F4-9A78-3F0FFA74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43200"/>
            <a:ext cx="695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时间、天气、存储、多媒体、OTA、游戏、功耗控制</a:t>
            </a:r>
          </a:p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由FreeRTOS拆分为相互独立的任务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C8DD6D-197F-486B-B3E4-1FB5C78A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A06C53-7F18-4333-866A-E247E9E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528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B36348-59F2-4346-87EE-92FE3C52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9791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0B92EF-4434-498A-AD1C-DFB26EE9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928DDF-F953-4E82-943E-9D956FDF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290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异步消息队列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054AFD-EC46-403E-8C50-ED3EA485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695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业务状态、页面请求、进度信息、任务间协作</a:t>
            </a:r>
          </a:p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统一进入队列，避免多任务直接操作UI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E7813B-7604-42F8-AE7C-6215973E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43400"/>
            <a:ext cx="3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93968E-0B34-4E75-BDF1-580C1F93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343400"/>
            <a:ext cx="342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2338CC-9DB3-441B-8D8F-12D31BF1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9791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F8790F-7372-468D-BAD7-6FD2AB4C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0100"/>
            <a:ext cx="114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4CC6D7-E233-4CA0-BA6E-DD07BD86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9650"/>
            <a:ext cx="176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显示层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BCB7CA-18FE-4D9F-9365-E9350AB9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24400"/>
            <a:ext cx="695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LVGL显示线程消费队列消息</a:t>
            </a:r>
          </a:p>
          <a:p xmlns:a="http://schemas.openxmlformats.org/drawingml/2006/main">
            <a:pPr algn="ctr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完成页面刷新、事件分发、控件重绘和屏幕输出</a:t>
            </a:r>
          </a:p>
        </p:txBody>
      </p:sp>
    </p:spTree>
    <p:extLst>
      <p:ext uri="{BB962C8B-B14F-4D97-AF65-F5344CB8AC3E}">
        <p14:creationId xmlns:p14="http://schemas.microsoft.com/office/powerpoint/2010/main" val="133533101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5282FA-BB42-4905-9E26-A8B2ED89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91C528-0BBB-470F-9146-6C22248F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BA067-A850-4C50-9BE9-198B7803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D6730-F49E-4CE1-9643-3B95400C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A6BB1-83BD-48FE-BEBD-B66FDC25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4D2EA-B36D-4DE8-A33D-DB7D79A1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1CBA5-28BD-4E8A-A6C4-31C0D245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C42F3-13E9-4474-9B07-F29C30A5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SD卡与多媒体流程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546D4-BDA3-49CF-8158-DB2A4550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A7C0B-05F8-412D-B78C-2400443A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72390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2bb237a89484c"/>
          <a:stretch xmlns:a="http://schemas.openxmlformats.org/drawingml/2006/main"/>
        </p:blipFill>
        <p:spPr>
          <a:xfrm xmlns:a="http://schemas.openxmlformats.org/drawingml/2006/main">
            <a:off x="2453309" y="1581150"/>
            <a:ext cx="3399183" cy="4114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92F11-65E4-49B3-83B8-A813A639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573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讲解重点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147C91-1A62-4F2B-B30D-83D62827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95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0A0CC-1300-4174-B3F1-325FE685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9800"/>
            <a:ext cx="2838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启动阶段初始化SD接口并挂载FatFS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6FCA9-823B-4662-B2BA-0DE59E85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05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A9202-920D-4CBE-A7A9-C82CC361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19400"/>
            <a:ext cx="2838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扫描/sdcard资源，建立图片、视频、小说文件列表缓存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54CE13-8751-4D0A-9C29-C484DF0A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14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419417-7CCD-4DEF-A98C-730444CE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29000"/>
            <a:ext cx="2838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图片分块读取解码，减少内存占用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D38BB7-82DB-4014-9EA9-DAE02DDD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26747-5DCA-4642-9CB0-49FD7DF4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38600"/>
            <a:ext cx="2838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视频帧和小说翻页通过消息通知显示层刷新</a:t>
            </a:r>
          </a:p>
        </p:txBody>
      </p:sp>
    </p:spTree>
    <p:extLst>
      <p:ext uri="{BB962C8B-B14F-4D97-AF65-F5344CB8AC3E}">
        <p14:creationId xmlns:p14="http://schemas.microsoft.com/office/powerpoint/2010/main" val="67577600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043BCF-F4E6-4435-AF66-BF5EE041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DE3D5-1B66-429A-8DC3-133E8B80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4DCC5-21FC-4269-892D-6597073B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3CA66-7E8F-4E0F-B1D4-009DE0FA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8D9A3-C5E0-4D92-B1D7-AE96A72A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DF3FC-55E1-4AC6-BAC6-4633686D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854856-2968-49D5-909F-E2A4B2E1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35501B-72D6-43A7-825D-EA3DF7C3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时间同步流程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92A5D-2950-48E5-B8A6-7A12DFCD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7906B2-F64A-43E3-B3B3-094688B4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953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2679b5d524061"/>
          <a:stretch xmlns:a="http://schemas.openxmlformats.org/drawingml/2006/main"/>
        </p:blipFill>
        <p:spPr>
          <a:xfrm xmlns:a="http://schemas.openxmlformats.org/drawingml/2006/main">
            <a:off x="2974312" y="1581150"/>
            <a:ext cx="2223825" cy="4114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2EE3CA-083E-45A9-9840-55C4ABD51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573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三条时间来源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60BD0-537C-4A51-A9B4-0A81FD44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22F1F2-2583-4565-B377-D8E24465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47900"/>
            <a:ext cx="2838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上电读取RTC校准系统时钟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285AF-7246-4DA4-8968-D7C53749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24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A1EA8C-FBD7-42C4-AD86-4EBCCC56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38450"/>
            <a:ext cx="2838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联网后SNTP校时并写回RTC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88BB3-BB82-4B69-8799-9FF30B17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14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05DE1-24D9-4921-A2B1-8D8C2E34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29000"/>
            <a:ext cx="2838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无网依靠RTC守时并刷新缓存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D90970-6009-4E1D-9726-7C6BF8C7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05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8D3C2-4A67-4223-AD61-3DDFE596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19550"/>
            <a:ext cx="2838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手动改时同步写入系统与RTC</a:t>
            </a:r>
          </a:p>
        </p:txBody>
      </p:sp>
    </p:spTree>
    <p:extLst>
      <p:ext uri="{BB962C8B-B14F-4D97-AF65-F5344CB8AC3E}">
        <p14:creationId xmlns:p14="http://schemas.microsoft.com/office/powerpoint/2010/main" val="132546824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8B36A-AF03-44ED-BC4D-1925A771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54589-C1B1-462E-9894-BDA1B567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A7702-B989-4D30-9B1E-CFC82E98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146476-FDB5-4890-890F-F3D8086B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C1F08-62F7-4726-B123-E1418EE2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78992-3ED0-42DC-9E2B-76E6290B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B4882-83A1-4A16-9EA8-D4AE9FC0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2607E-7D2B-43B2-A8A6-9056538F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OTA升级流程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B68A7D-FB9B-49C1-AA88-15624C16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4A8A64-61C9-4663-BEEB-1537C88F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953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73792737464a4f"/>
          <a:stretch xmlns:a="http://schemas.openxmlformats.org/drawingml/2006/main"/>
        </p:blipFill>
        <p:spPr>
          <a:xfrm xmlns:a="http://schemas.openxmlformats.org/drawingml/2006/main">
            <a:off x="2741155" y="1581150"/>
            <a:ext cx="2690140" cy="4114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659A9-2C8E-41FF-AF6A-28D74688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573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升级策略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B9897F-E2E3-4EF2-928B-D5972A3A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9C3AB5-4E30-4BE7-99A9-C20A1908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47900"/>
            <a:ext cx="2838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支持云端OTA与本地SD卡OTA两条路径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4CFFB-0F61-4E90-A831-E93B8560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43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AE5392-A727-4E97-B56F-4A465D61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57500"/>
            <a:ext cx="2838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读取当前运行分区，写入备份分区并进行校验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26CE92-A224-43AE-989C-1339AAF6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52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E0FF7-8253-45D5-91FB-EB4D2912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2838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升级完成后重启或点击跳转按钮进入新固件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26B14-0030-4257-A503-EB365FFB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62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B1A2D4-B9D9-4E7B-AE57-4D7E999F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76700"/>
            <a:ext cx="2838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若新固件启动异常，则回滚到上一可用分区</a:t>
            </a:r>
          </a:p>
        </p:txBody>
      </p:sp>
    </p:spTree>
    <p:extLst>
      <p:ext uri="{BB962C8B-B14F-4D97-AF65-F5344CB8AC3E}">
        <p14:creationId xmlns:p14="http://schemas.microsoft.com/office/powerpoint/2010/main" val="16738351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66D329-6C57-4140-ABB3-E7FC3C1E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015EA-1447-4396-A078-8ACC2CC7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56FC11-CD26-48E6-8F15-273664AD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DF5148-0566-454D-A1D2-1EBA026A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6D916E-6D55-4FE7-9BCB-99C32185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CFC0A-57B7-483C-9D06-0CF0CD60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76C28-DD2F-44BF-9293-E85CF4CA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0BA35-F56F-4D9E-AE5E-D471EA6B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低功耗流程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F0102-98AD-43C6-9DE5-A7CFD53C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E8EA3-1F85-4CAB-BF21-7ECE4732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953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6e6bf40e94a9e"/>
          <a:stretch xmlns:a="http://schemas.openxmlformats.org/drawingml/2006/main"/>
        </p:blipFill>
        <p:spPr>
          <a:xfrm xmlns:a="http://schemas.openxmlformats.org/drawingml/2006/main">
            <a:off x="2469385" y="1581150"/>
            <a:ext cx="3233680" cy="4114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9FC7B-CA0B-46BD-9E7D-F9A411F8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573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双级休眠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CAB74-6CC9-4520-87CD-5804E7C7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9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92B10D-C9F3-41ED-9079-FAEBB5ED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24100"/>
            <a:ext cx="2838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120秒无操作：进入轻休眠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6289D-6C7C-426A-B8A5-72FF74AF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795EA-4BFE-4164-9FE3-2DA49D19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2838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长按确认键3秒：进入深休眠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BD112-15F6-4DFA-ABA9-1B9AD5B3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F7F666-DFE1-4812-A636-7443D8D1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962400"/>
            <a:ext cx="2838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轻休眠快醒，深休眠防误触</a:t>
            </a:r>
          </a:p>
        </p:txBody>
      </p:sp>
    </p:spTree>
    <p:extLst>
      <p:ext uri="{BB962C8B-B14F-4D97-AF65-F5344CB8AC3E}">
        <p14:creationId xmlns:p14="http://schemas.microsoft.com/office/powerpoint/2010/main" val="166270548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9A2779-1438-44E0-BBB5-EAE2076C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C8115-731C-45F1-8723-1B5E8F0F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43250" y="-2571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54033-3618-46A5-B652-04BC75EE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0" y="-2095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9F735-A547-4B50-977A-AB1699B8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E9B63-75F4-4EDB-97A9-32A59FE9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783121-A5B2-43B1-8422-2538FF3D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90AA6-CDEE-4D4F-8F7D-03612A35B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E97A9C-8D0F-4B2D-9723-CDBE93A9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E7B02-70D1-4690-B8B4-FFB9F47F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07366-14EA-4B67-9F14-8C94AC7C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A3932-AB86-4B1B-8D37-50F38C14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D4BD3C-E088-496B-BC24-388E1494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5C1AF-D320-40A6-96E2-1F5502CD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131421-DA8C-4255-B462-3788AFE8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44FB8-CF4F-41F3-8772-32B4952A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B4B90-5201-4EAA-B3D0-6023ABF2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6DA0E-B2C8-4496-A98D-98C81E6B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31674-BB2E-4A71-A38D-F1C3FF14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2C386-4989-4ACE-9737-7FD8E87F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767D31-B81E-4C33-904F-2C43EB8F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C32FE-447F-4134-A0A1-45E17C63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38E3B9-5BA3-4176-A7FC-F0066D12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85D179-29D6-44C9-96F9-34626ABA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63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5766D7-6641-46FE-AEE3-478A1B6C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9FF3AD-6FC7-4C98-9EBB-AF401113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系统调试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423F41-DEFC-4AA1-BAC5-07B53485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rPr>
              <a:t>从硬件连通、功能验证到功耗评估</a:t>
            </a:r>
          </a:p>
        </p:txBody>
      </p:sp>
    </p:spTree>
    <p:extLst>
      <p:ext uri="{BB962C8B-B14F-4D97-AF65-F5344CB8AC3E}">
        <p14:creationId xmlns:p14="http://schemas.microsoft.com/office/powerpoint/2010/main" val="1636546070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672F60-8712-4B94-AD66-E6B7D702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9D7A5-99D7-4085-A962-2EB9C0AE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8A387-8970-4BB3-8814-532EB9A4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7F493-5629-45BE-8415-FEB8F161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226FE-0D00-4ABA-808A-3841B66B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4B008-9BB3-4A4B-A048-4966A3BA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EC034-5F7C-4319-9A58-C809653B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774E1-3EBD-4CB9-BBC9-6B3171B2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调试过程：先连通，再验证功能闭环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6DD0C-4E1F-49D4-86DC-988B56F0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E4516-E031-4208-8C7E-AC8EF3EB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84A98-4A38-41CC-8611-80EC3686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847850"/>
            <a:ext cx="38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3C22D-8795-447C-A221-795794D2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266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AB0D8-F8A8-4F07-BED9-7A0E7608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硬件检查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787B5-5769-4C9D-B4C4-B9670F1A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0995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焊接、电源电压、Type-C下载接口、复位启动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690B12-EDF0-459A-8040-92BAF8FA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764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18048-7D3A-4871-B469-4277FBDA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050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E45EB-68B3-40B5-A10F-E31BFA32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64A44-9EA4-400E-95C2-59667C8F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47850"/>
            <a:ext cx="38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D0281B-B295-45E6-A2AD-F6C699B1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2266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55D1B-DFBA-4BE4-8F7A-D6F7DFC8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527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外设连通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C7EC76-5511-41C4-8CBA-EB248DE7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0995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LCD显示、CST816T触摸、SD卡挂载、RTC读写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FE17D-1F65-4D7A-AE30-9011AD24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44CB70-FE0F-4913-8586-3C06EB9D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82A846-FDFF-45D7-8FF6-1A78BAD8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932030-F4FF-43AA-974A-CA642E7F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47850"/>
            <a:ext cx="38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F3E144-A00D-41EC-9B70-89FCE543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2266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E6B8B9-77A7-4955-8A8F-F8D37064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527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业务验证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13B85A-8965-44F9-86ED-F35F5F5E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0995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表盘切换、图片壁纸、MJPEG播放、TXT断点续读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DCAEA4-4E2D-4485-A8E7-E9B833F2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7645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927BA2-DF0A-4D2D-8844-95064E75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05000"/>
            <a:ext cx="38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5C557E-EC8A-4B1D-98ED-5D21B802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7526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8BAE67-B345-4560-A5DA-19F1AF25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847850"/>
            <a:ext cx="38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C94F78-E222-4834-9588-B6C6A432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24150"/>
            <a:ext cx="2266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641497-F3F2-423D-AA65-89E2007E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527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联网维护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5377E2-E77B-4929-B992-9DA45D41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409950"/>
            <a:ext cx="1885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WiFi连接、天气/NTP、MQTT通信、本地与云端OTA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6F201A-C321-4520-A13F-7C860BC3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9791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94A9A1-FDCD-4FDC-B95E-5C9347C8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054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测试结论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A0054B-5094-4C48-A1BF-B67CD2EE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863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系统能够完成主要交互与业务流程，高负载下的卡顿、掉帧和画面撕裂是后续优化重点。</a:t>
            </a:r>
          </a:p>
        </p:txBody>
      </p:sp>
    </p:spTree>
    <p:extLst>
      <p:ext uri="{BB962C8B-B14F-4D97-AF65-F5344CB8AC3E}">
        <p14:creationId xmlns:p14="http://schemas.microsoft.com/office/powerpoint/2010/main" val="197109963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ECBBB4-D97C-4DFF-BF58-CD4594CF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0399B-391C-40FE-9604-DDD877FE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B163A-E973-4661-8E6D-4F2AE765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3AB10-3FAD-4A12-8B18-94992B2D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810AD2-BAA5-4C6B-A907-C7DB28E0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528C5-2827-4DEA-AFC7-49C0D8BD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6987C-720F-4F76-B9A4-D81DB013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8C824-7B09-482B-8894-D0E53307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功能测试结果：核心业务基本闭环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204A1-3F84-48DE-A0FE-051C5AAD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98355-B1B9-4CE5-BEC3-85C7C3DA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手势交互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2B55C-AF4C-4B4C-9A89-A2FFCBB3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716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8F4"/>
          </a:solidFill>
          <a:ln xmlns:a="http://schemas.openxmlformats.org/drawingml/2006/main" w="9525">
            <a:solidFill>
              <a:srgbClr val="DAE8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F0D9D-FBA2-4922-AE48-FCEB8268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771650"/>
            <a:ext cx="45567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9525">
            <a:solidFill>
              <a:srgbClr val="20A6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D545C-1E1D-439A-BBD7-87102912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954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8AB8B3-FC6A-4482-8038-DA46AF2C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668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表盘、主菜单、快捷面板切换正常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6A309-DE35-41F0-A42C-6D4AF2EA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384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图片壁纸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BB591-BDF1-4D9F-A894-46EEB6AA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955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8F4"/>
          </a:solidFill>
          <a:ln xmlns:a="http://schemas.openxmlformats.org/drawingml/2006/main" w="9525">
            <a:solidFill>
              <a:srgbClr val="DAE8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32D84-C367-4FBE-BA4F-6A936F73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95550"/>
            <a:ext cx="41605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9525">
            <a:solidFill>
              <a:srgbClr val="22A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2FDB1-E952-4301-A897-CD5C532B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193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84%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264BB-6DD2-4D44-A81B-1C942733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907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支持SD卡图片浏览与壁纸更换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CBCAED-E5EC-4C4C-8AC7-6AC809F6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视频播放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81213D-77BA-4186-B198-2E31A9A7B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8F4"/>
          </a:solidFill>
          <a:ln xmlns:a="http://schemas.openxmlformats.org/drawingml/2006/main" w="9525">
            <a:solidFill>
              <a:srgbClr val="DAE8F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EF75E9-65CA-482D-ACF2-6F130E85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406146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1B"/>
          </a:solidFill>
          <a:ln xmlns:a="http://schemas.openxmlformats.org/drawingml/2006/main" w="9525">
            <a:solidFill>
              <a:srgbClr val="F2A21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2A138-6766-4E0C-8CDF-AFF2D457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82%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A06896-F4A0-437F-BDBD-8F3B8D13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146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MJPEG可连续播放，高负载下偶发掉帧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690EF1-B16B-45EF-9D1D-A79CACCA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小说阅读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A929A4-D57C-4511-A0D1-AC85A418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43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8F4"/>
          </a:solidFill>
          <a:ln xmlns:a="http://schemas.openxmlformats.org/drawingml/2006/main" w="9525">
            <a:solidFill>
              <a:srgbClr val="DAE8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4A73AC-97B0-4399-8617-6ABEC234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43350"/>
            <a:ext cx="465582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9525">
            <a:solidFill>
              <a:srgbClr val="20A6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140690-4B3B-49C2-8C91-5FEB0A05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671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94%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3706A9-862F-4E1C-80D5-0876BCAD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385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TXT分页读取，支持断点续读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8677A9-674E-44E3-A4AE-914AB42C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123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网络OTA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77D18E-8353-4916-A648-C4BD0413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67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E8F4"/>
          </a:solidFill>
          <a:ln xmlns:a="http://schemas.openxmlformats.org/drawingml/2006/main" w="9525">
            <a:solidFill>
              <a:srgbClr val="DAE8F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30A0BC-0066-4EDC-A221-3D86FF41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67250"/>
            <a:ext cx="4457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9525">
            <a:solidFill>
              <a:srgbClr val="38548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57A8B5-19C4-4AB0-B471-7362BDA0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910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548C"/>
                </a:solidFill>
                <a:latin typeface="Microsoft YaHei"/>
                <a:ea typeface="Microsoft YaHei"/>
                <a:cs typeface="Microsoft YaHei"/>
              </a:rPr>
              <a:t>90%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8714BC-05D0-4C28-9121-70815DFC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6247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WiFi、天气、NTP、OTA流程验证通过</a:t>
            </a:r>
          </a:p>
        </p:txBody>
      </p:sp>
    </p:spTree>
    <p:extLst>
      <p:ext uri="{BB962C8B-B14F-4D97-AF65-F5344CB8AC3E}">
        <p14:creationId xmlns:p14="http://schemas.microsoft.com/office/powerpoint/2010/main" val="148472130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176DF3-BFDF-4062-8A8E-7E4ABFC1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4C0FD-324D-4B04-8B4E-B20BD9B4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F0664-1F5A-4936-AA3A-210C82C2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B28D2-1A5B-45FA-8575-CE37DBA1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528EE-00C0-4A6B-851B-F5F43B62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E5C87-2BFD-41E0-BA25-982094CA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F10F9-B9F7-4724-9D15-E8E1C48A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17AE5-6395-4CC4-99FC-A3CE6D1E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功耗测试：工作状态电流趋势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90ACD3-5CA4-4FB2-AA25-6EBFC424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0CF9D-1DF2-4623-9799-8C80CA02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7810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1E818D-2383-410E-9D6C-1666EA72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764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测试结论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B0C0F-8B93-40B0-8E45-F789E570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33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AE8F17-7A10-4FC5-902F-6B397387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47900"/>
            <a:ext cx="2266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100%亮度并开启WiFi时电流最高，理论续航约1.9小时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B34F38-B3E8-415F-AE69-273EB6D4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4B81A-B525-4963-BF15-372FFBE4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67050"/>
            <a:ext cx="2266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降低亮度并关闭WiFi后，亮屏续航可提升到约7.7小时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FE673A-7E19-492A-AD97-3FDEA518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71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BD7F0-405F-4295-96D9-D7031C0B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86200"/>
            <a:ext cx="2266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LightSleep与DeepSleep进入毫安级电流，适合待机和长时间存放</a:t>
            </a:r>
          </a:p>
        </p:txBody>
      </p:sp>
    </p:spTree>
    <p:extLst>
      <p:ext uri="{BB962C8B-B14F-4D97-AF65-F5344CB8AC3E}">
        <p14:creationId xmlns:p14="http://schemas.microsoft.com/office/powerpoint/2010/main" val="114375393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DA974D-D85F-4063-B46F-8D4D10C2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1D7D2-D85C-4E20-A10D-88F12FC4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-2476500"/>
            <a:ext cx="68580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B3AF74-5398-4DAD-8EF1-433FC473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-2114550"/>
            <a:ext cx="571500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5AD13-CB53-45C9-BAE6-855E1B7D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1441F-27FB-4EA3-81E6-A58AE25C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15050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6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C8A8DF-F0F0-45ED-ADA1-93C714FA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ACD07F-09B2-494E-AFFA-8F02EA3D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48F26-6D28-4C44-A6EF-FC706D6E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"/>
            <a:ext cx="8001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不足分析与后续改进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FF2B5-12EA-487A-9318-6E9382E3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382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32B09C-633E-4996-BD67-4E6F3844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093C6B-5292-4C00-A8D5-E587344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21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B8D3D-AA34-456E-851C-020FD6F6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45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2A21B"/>
                </a:solidFill>
                <a:latin typeface="Microsoft YaHei"/>
                <a:ea typeface="Microsoft YaHei"/>
                <a:cs typeface="Microsoft YaHei"/>
              </a:rPr>
              <a:t>显示同步与总线带宽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679CC-22D2-48B6-8F3E-11A34612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457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高负载下仍会出现轻微撕裂、卡顿或掉帧；后续可引出LCD TE同步信号，并将SD卡由SPI升级为4-bit SDMMC。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EB72D8-B96C-4324-B333-CA7F1203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665F9-4CD1-452F-B8B8-18598B04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6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9CC9F-EDD8-49CD-97F5-07ABF11A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47850"/>
            <a:ext cx="445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0A66A"/>
                </a:solidFill>
                <a:latin typeface="Microsoft YaHei"/>
                <a:ea typeface="Microsoft YaHei"/>
                <a:cs typeface="Microsoft YaHei"/>
              </a:rPr>
              <a:t>硬件电源与低功耗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D2306-6DFB-4028-A171-3F4DA235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4457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LightSleep与DeepSleep仍为毫安级电流；后续可增加负载开关或PMOS电源门控，深睡时切断非必要外设供电。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47333-BA41-4807-9148-602193FC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70347-8B74-4B82-A1E8-DB3EF9F0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7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893982-ACEB-4F09-BC10-F0EFE1E9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445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2A7C8"/>
                </a:solidFill>
                <a:latin typeface="Microsoft YaHei"/>
                <a:ea typeface="Microsoft YaHei"/>
                <a:cs typeface="Microsoft YaHei"/>
              </a:rPr>
              <a:t>RTC备用电源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A8E0EE-F76F-4DAA-9C79-78A49390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81450"/>
            <a:ext cx="4457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当前RTC仍依赖主电池；后续可加入法拉电容或小容量备用电池，主电池耗尽后仍能保持基本走时。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C7F935-9DE0-455E-B342-48EB623B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52800"/>
            <a:ext cx="4953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9D9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07052C-F63D-4B06-8C73-C7EFD31D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52800"/>
            <a:ext cx="95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5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552F81-07F9-4E5C-ACC2-372E68AD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445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35D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35D5B"/>
                </a:solidFill>
                <a:latin typeface="Microsoft YaHei"/>
                <a:ea typeface="Microsoft YaHei"/>
                <a:cs typeface="Microsoft YaHei"/>
              </a:rPr>
              <a:t>结构小型化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CBD949-992F-4B0E-A6CA-274EF734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81450"/>
            <a:ext cx="4457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E2A3A"/>
                </a:solidFill>
                <a:latin typeface="Microsoft YaHei"/>
                <a:ea typeface="Microsoft YaHei"/>
                <a:cs typeface="Microsoft YaHei"/>
              </a:rPr>
              <a:t>3D打印外壳和FPC连接占用空间较大；后续可优化PCB与FPC座位置，降低整机厚度并提升佩戴体验。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6DF3A6-8297-4C91-BEDE-5FE569F8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4102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3B72"/>
                </a:solidFill>
                <a:latin typeface="Microsoft YaHei"/>
                <a:ea typeface="Microsoft YaHei"/>
                <a:cs typeface="Microsoft YaHei"/>
              </a:rPr>
              <a:t>后续目标：更平滑显示、更低待机功耗、更小整机体积。</a:t>
            </a:r>
          </a:p>
        </p:txBody>
      </p:sp>
    </p:spTree>
    <p:extLst>
      <p:ext uri="{BB962C8B-B14F-4D97-AF65-F5344CB8AC3E}">
        <p14:creationId xmlns:p14="http://schemas.microsoft.com/office/powerpoint/2010/main" val="23848477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2EDF9B-AA23-4078-9BE4-057CE2EE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A3F95-7C92-4B4E-B88E-B7B2FD17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43250" y="-2571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8BA4F-A6A2-4927-98DE-B88C0BD8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0" y="-2095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BF35C-3228-4FD1-9D4C-6F94A9EF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F3D69-C861-4100-AE0D-10EABCAF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78996B-A06D-4E9A-8FAA-6043F8B9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6652C-B5F8-4A6F-A11C-9FB4FD41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D49093-3F3E-4265-93E8-4EF91450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99F15-C431-4369-ADF9-0FBE505A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DDCB15-A7C4-4A3F-850E-B5D01E1A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282BF-F27C-42ED-91B6-B263E931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9CC03-89FF-4010-9B22-D0C8C013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3BF89-6948-4AE9-889C-E0C09AC5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18A1FE-E573-42E0-809B-CA4B8BBF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76ABA-986C-4E1D-8072-8B9E7988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37424-75DE-4EBA-A5EE-37D4267D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D7A563-563F-4351-9AF0-1E51DB6A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275DB-D3FB-4582-9A00-B104907C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470998-8B62-48BB-8DCB-11E62B94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99941-D264-4867-BF70-CA96E9B8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9DFC4-CACC-4EC9-8468-714E9C13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05ADBE-61F7-465E-8DEA-83A46692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B5EF8E-1CE2-46AA-AE72-469E32E3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7630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EE427A-67C0-4820-A800-05D9AB20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09750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ECE4A8-1111-41F0-A8F1-57DEBF252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52650"/>
            <a:ext cx="7239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C458F7-47C9-4798-9869-841608DC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86100"/>
            <a:ext cx="7810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E3ECFA"/>
                </a:solidFill>
                <a:latin typeface="Microsoft YaHei"/>
                <a:ea typeface="Microsoft YaHei"/>
                <a:cs typeface="Microsoft YaHei"/>
              </a:rPr>
              <a:t>完成原型验证，并明确后续工程化优化方向</a:t>
            </a:r>
          </a:p>
        </p:txBody>
      </p:sp>
    </p:spTree>
    <p:extLst>
      <p:ext uri="{BB962C8B-B14F-4D97-AF65-F5344CB8AC3E}">
        <p14:creationId xmlns:p14="http://schemas.microsoft.com/office/powerpoint/2010/main" val="154622545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EE3149-4E66-48C3-92E7-4E6817C6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5C8B9-A073-48C6-BABA-B8A43CA6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143250" y="-2571750"/>
            <a:ext cx="4572000" cy="457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C129B-E5C3-4636-B372-23611328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667000" y="-209550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3EE2B-89C8-4828-90DF-935F9961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D33E2-ADBB-4298-97F1-F9F1A2E3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50482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8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9CD64-7239-47F9-BEE6-A35CFB47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025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B7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5C769-CCDC-4C9C-853B-60179597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7DF5D-BCFD-4F12-AF3D-CFA4F0AD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941D2-7F3B-4E78-AB37-D45A4B47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011CD1-27DC-4A19-A0F6-400ECE01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02D76-DEB3-49D4-A269-8D3499EF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89069-82D3-4B70-A693-360BEAE2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9C06D3-E621-46AB-BB0F-7F792865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CD5B0-CFB9-404D-8CD1-5DA58DE8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C483B1-2118-4A2A-A951-F68F3521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CD053D-195D-4DDB-A9FD-70C4ABCB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6A879-E535-4436-93E2-FF699D5F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8EEC7E-4EE6-496E-B252-83987089D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E92C6-5DBC-4197-9DB3-FE80E957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715D8-1C0E-4162-BF4F-18CBDD2D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2960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C0D268-D7EC-4303-B751-6748E7C6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6438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B52F6E-9FFA-4838-ACD8-BA943A99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531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B3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A43E3-D378-4181-96C9-CBAB9D34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8001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0BEB4E-EEA0-4A45-ACE2-75FBC55B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5240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06210D-7F0F-4016-AE15-098434F1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38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67EE54-A0DB-430F-AC73-8A27BFB8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14550"/>
            <a:ext cx="752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完成ESP32-S3R8低功耗触控智能手表样机设计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FD1224-A3CD-4458-B650-273DB8DF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67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F0A95B-FEFB-48ED-B025-76D45B86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43200"/>
            <a:ext cx="752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实现表盘、触摸交互、多媒体、小说、小游戏等本地功能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0BD10B-870D-407B-B0B2-B9E8D1545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95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D81932-D216-433F-B8A1-5FDAB1E4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71850"/>
            <a:ext cx="752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实现WiFi、天气、NTP、MQTT、本地/云端OTA等联网维护能力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3185F8-BBE6-47DB-ABE9-38821D64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24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F7DAEE-7151-463A-940E-0E9ACFAC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00500"/>
            <a:ext cx="752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通过FreeRTOS任务划分与异步消息队列完成业务和显示解耦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6CF985-AC54-4EF8-8EE9-DABF709A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7810500" cy="171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0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4ED28E-95A4-400C-B936-5C964FAF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E8F1FF"/>
                </a:solidFill>
                <a:latin typeface="Microsoft YaHei"/>
                <a:ea typeface="Microsoft YaHei"/>
                <a:cs typeface="Microsoft YaHei"/>
              </a:rPr>
              <a:t>后续将围绕显示同步、存储带宽、外设断电和结构小型化继续优化，使系统更接近可长期佩戴的工程样机。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472E3E-9583-49F7-9708-73083CF5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057900"/>
            <a:ext cx="3619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17535896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2026-05-27T18:23:36.1470000Z</dcterms:created>
  <dcterms:modified xsi:type="dcterms:W3CDTF">2026-05-27T18:23:36.1470000Z</dcterms:modified>
</coreProperties>
</file>