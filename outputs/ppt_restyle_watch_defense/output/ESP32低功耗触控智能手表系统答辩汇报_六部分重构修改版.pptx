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29076ca6424c4b" /><Relationship Type="http://schemas.openxmlformats.org/officeDocument/2006/relationships/extended-properties" Target="/docProps/app.xml" Id="Rf89e74d9cc984afe" /><Relationship Type="http://schemas.openxmlformats.org/officeDocument/2006/relationships/officeDocument" Target="/ppt/presentation.xml" Id="R381b296478f64d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30e40cfbf54aaf"/>
  </p:sldMasterIdLst>
  <p:notesMasterIdLst>
    <p:notesMasterId xmlns:r="http://schemas.openxmlformats.org/officeDocument/2006/relationships" r:id="Rbe189d0b0e2e422c"/>
  </p:notesMasterIdLst>
  <p:sldIdLst>
    <p:sldId xmlns:r="http://schemas.openxmlformats.org/officeDocument/2006/relationships" id="256" r:id="R457e958810114c82"/>
    <p:sldId xmlns:r="http://schemas.openxmlformats.org/officeDocument/2006/relationships" id="257" r:id="R800268a0451b4224"/>
    <p:sldId xmlns:r="http://schemas.openxmlformats.org/officeDocument/2006/relationships" id="258" r:id="Rd31edbe600f2459d"/>
    <p:sldId xmlns:r="http://schemas.openxmlformats.org/officeDocument/2006/relationships" id="259" r:id="Rd7e88078ab634228"/>
    <p:sldId xmlns:r="http://schemas.openxmlformats.org/officeDocument/2006/relationships" id="260" r:id="R23190c6860cb4f7c"/>
    <p:sldId xmlns:r="http://schemas.openxmlformats.org/officeDocument/2006/relationships" id="261" r:id="Rb2e2642d73f640b0"/>
    <p:sldId xmlns:r="http://schemas.openxmlformats.org/officeDocument/2006/relationships" id="262" r:id="Rcec2ad48612b4f38"/>
    <p:sldId xmlns:r="http://schemas.openxmlformats.org/officeDocument/2006/relationships" id="263" r:id="Ra4cf747a02774cb2"/>
    <p:sldId xmlns:r="http://schemas.openxmlformats.org/officeDocument/2006/relationships" id="264" r:id="Re58917b502ce408e"/>
    <p:sldId xmlns:r="http://schemas.openxmlformats.org/officeDocument/2006/relationships" id="265" r:id="Rf327ca8414d749ca"/>
    <p:sldId xmlns:r="http://schemas.openxmlformats.org/officeDocument/2006/relationships" id="266" r:id="R71c6e572fd764e8f"/>
    <p:sldId xmlns:r="http://schemas.openxmlformats.org/officeDocument/2006/relationships" id="267" r:id="Rbcbee18b70924dc7"/>
    <p:sldId xmlns:r="http://schemas.openxmlformats.org/officeDocument/2006/relationships" id="268" r:id="Rc8b62a52c690458b"/>
    <p:sldId xmlns:r="http://schemas.openxmlformats.org/officeDocument/2006/relationships" id="269" r:id="Rf4f26899b3f947e9"/>
    <p:sldId xmlns:r="http://schemas.openxmlformats.org/officeDocument/2006/relationships" id="270" r:id="R1994a91aca714991"/>
    <p:sldId xmlns:r="http://schemas.openxmlformats.org/officeDocument/2006/relationships" id="271" r:id="Rc4664dba3cf24df1"/>
    <p:sldId xmlns:r="http://schemas.openxmlformats.org/officeDocument/2006/relationships" id="272" r:id="R5295503dca944448"/>
    <p:sldId xmlns:r="http://schemas.openxmlformats.org/officeDocument/2006/relationships" id="273" r:id="Rae910afcb6af4fcb"/>
    <p:sldId xmlns:r="http://schemas.openxmlformats.org/officeDocument/2006/relationships" id="274" r:id="R3f38967e085b4f06"/>
    <p:sldId xmlns:r="http://schemas.openxmlformats.org/officeDocument/2006/relationships" id="275" r:id="Rc302884fcc954261"/>
    <p:sldId xmlns:r="http://schemas.openxmlformats.org/officeDocument/2006/relationships" id="276" r:id="Rcfe4f2745e17459c"/>
    <p:sldId xmlns:r="http://schemas.openxmlformats.org/officeDocument/2006/relationships" id="277" r:id="R2c8b8cf8efa7400b"/>
    <p:sldId xmlns:r="http://schemas.openxmlformats.org/officeDocument/2006/relationships" id="278" r:id="R0b2a5235acc34986"/>
    <p:sldId xmlns:r="http://schemas.openxmlformats.org/officeDocument/2006/relationships" id="279" r:id="Rfb1a6178fd9c4bfd"/>
    <p:sldId xmlns:r="http://schemas.openxmlformats.org/officeDocument/2006/relationships" id="280" r:id="R64d4581c26d0425b"/>
    <p:sldId xmlns:r="http://schemas.openxmlformats.org/officeDocument/2006/relationships" id="281" r:id="R9839c62e7394457c"/>
    <p:sldId xmlns:r="http://schemas.openxmlformats.org/officeDocument/2006/relationships" id="282" r:id="R3952f682225c45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0e40cfbf54aaf" /><Relationship Type="http://schemas.openxmlformats.org/officeDocument/2006/relationships/theme" Target="/ppt/theme/theme1.xml" Id="R829347010bdc4ed3" /><Relationship Type="http://schemas.openxmlformats.org/officeDocument/2006/relationships/notesMaster" Target="/ppt/notesMasters/notesMaster1.xml" Id="Rbe189d0b0e2e422c" /><Relationship Type="http://schemas.openxmlformats.org/officeDocument/2006/relationships/presProps" Target="/ppt/presProps.xml" Id="R097ee0af3e0647f2" /><Relationship Type="http://schemas.openxmlformats.org/officeDocument/2006/relationships/viewProps" Target="/ppt/viewProps.xml" Id="R71668e8a4af74442" /><Relationship Type="http://schemas.openxmlformats.org/officeDocument/2006/relationships/tableStyles" Target="/ppt/tableStyles.xml" Id="R86efb9a29607442b" /><Relationship Type="http://schemas.openxmlformats.org/officeDocument/2006/relationships/slide" Target="/ppt/slides/slide1.xml" Id="R457e958810114c82" /><Relationship Type="http://schemas.openxmlformats.org/officeDocument/2006/relationships/slide" Target="/ppt/slides/slide2.xml" Id="R800268a0451b4224" /><Relationship Type="http://schemas.openxmlformats.org/officeDocument/2006/relationships/slide" Target="/ppt/slides/slide3.xml" Id="Rd31edbe600f2459d" /><Relationship Type="http://schemas.openxmlformats.org/officeDocument/2006/relationships/slide" Target="/ppt/slides/slide4.xml" Id="Rd7e88078ab634228" /><Relationship Type="http://schemas.openxmlformats.org/officeDocument/2006/relationships/slide" Target="/ppt/slides/slide5.xml" Id="R23190c6860cb4f7c" /><Relationship Type="http://schemas.openxmlformats.org/officeDocument/2006/relationships/slide" Target="/ppt/slides/slide6.xml" Id="Rb2e2642d73f640b0" /><Relationship Type="http://schemas.openxmlformats.org/officeDocument/2006/relationships/slide" Target="/ppt/slides/slide7.xml" Id="Rcec2ad48612b4f38" /><Relationship Type="http://schemas.openxmlformats.org/officeDocument/2006/relationships/slide" Target="/ppt/slides/slide8.xml" Id="Ra4cf747a02774cb2" /><Relationship Type="http://schemas.openxmlformats.org/officeDocument/2006/relationships/slide" Target="/ppt/slides/slide9.xml" Id="Re58917b502ce408e" /><Relationship Type="http://schemas.openxmlformats.org/officeDocument/2006/relationships/slide" Target="/ppt/slides/slide10.xml" Id="Rf327ca8414d749ca" /><Relationship Type="http://schemas.openxmlformats.org/officeDocument/2006/relationships/slide" Target="/ppt/slides/slide11.xml" Id="R71c6e572fd764e8f" /><Relationship Type="http://schemas.openxmlformats.org/officeDocument/2006/relationships/slide" Target="/ppt/slides/slide12.xml" Id="Rbcbee18b70924dc7" /><Relationship Type="http://schemas.openxmlformats.org/officeDocument/2006/relationships/slide" Target="/ppt/slides/slide13.xml" Id="Rc8b62a52c690458b" /><Relationship Type="http://schemas.openxmlformats.org/officeDocument/2006/relationships/slide" Target="/ppt/slides/slide14.xml" Id="Rf4f26899b3f947e9" /><Relationship Type="http://schemas.openxmlformats.org/officeDocument/2006/relationships/slide" Target="/ppt/slides/slide15.xml" Id="R1994a91aca714991" /><Relationship Type="http://schemas.openxmlformats.org/officeDocument/2006/relationships/slide" Target="/ppt/slides/slide16.xml" Id="Rc4664dba3cf24df1" /><Relationship Type="http://schemas.openxmlformats.org/officeDocument/2006/relationships/slide" Target="/ppt/slides/slide17.xml" Id="R5295503dca944448" /><Relationship Type="http://schemas.openxmlformats.org/officeDocument/2006/relationships/slide" Target="/ppt/slides/slide18.xml" Id="Rae910afcb6af4fcb" /><Relationship Type="http://schemas.openxmlformats.org/officeDocument/2006/relationships/slide" Target="/ppt/slides/slide19.xml" Id="R3f38967e085b4f06" /><Relationship Type="http://schemas.openxmlformats.org/officeDocument/2006/relationships/slide" Target="/ppt/slides/slide20.xml" Id="Rc302884fcc954261" /><Relationship Type="http://schemas.openxmlformats.org/officeDocument/2006/relationships/slide" Target="/ppt/slides/slide21.xml" Id="Rcfe4f2745e17459c" /><Relationship Type="http://schemas.openxmlformats.org/officeDocument/2006/relationships/slide" Target="/ppt/slides/slide22.xml" Id="R2c8b8cf8efa7400b" /><Relationship Type="http://schemas.openxmlformats.org/officeDocument/2006/relationships/slide" Target="/ppt/slides/slide23.xml" Id="R0b2a5235acc34986" /><Relationship Type="http://schemas.openxmlformats.org/officeDocument/2006/relationships/slide" Target="/ppt/slides/slide24.xml" Id="Rfb1a6178fd9c4bfd" /><Relationship Type="http://schemas.openxmlformats.org/officeDocument/2006/relationships/slide" Target="/ppt/slides/slide25.xml" Id="R64d4581c26d0425b" /><Relationship Type="http://schemas.openxmlformats.org/officeDocument/2006/relationships/slide" Target="/ppt/slides/slide26.xml" Id="R9839c62e7394457c" /><Relationship Type="http://schemas.openxmlformats.org/officeDocument/2006/relationships/slide" Target="/ppt/slides/slide27.xml" Id="R3952f682225c45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6460d46f72e4e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b0575c836742d7" /><Relationship Type="http://schemas.openxmlformats.org/officeDocument/2006/relationships/notesMaster" Target="/ppt/notesMasters/notesMaster1.xml" Id="R49e0727b1fa74c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1d035a592342e4" /><Relationship Type="http://schemas.openxmlformats.org/officeDocument/2006/relationships/notesMaster" Target="/ppt/notesMasters/notesMaster1.xml" Id="Rec58662ab4fb46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abde5d20ca4001" /><Relationship Type="http://schemas.openxmlformats.org/officeDocument/2006/relationships/notesMaster" Target="/ppt/notesMasters/notesMaster1.xml" Id="R78a73812ad9b4d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839d400f6d4afa" /><Relationship Type="http://schemas.openxmlformats.org/officeDocument/2006/relationships/notesMaster" Target="/ppt/notesMasters/notesMaster1.xml" Id="R31a4816c29eb42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aa6bc666da41e0" /><Relationship Type="http://schemas.openxmlformats.org/officeDocument/2006/relationships/notesMaster" Target="/ppt/notesMasters/notesMaster1.xml" Id="R90fecfb8b1af40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b78028eee14003" /><Relationship Type="http://schemas.openxmlformats.org/officeDocument/2006/relationships/notesMaster" Target="/ppt/notesMasters/notesMaster1.xml" Id="R15beca52e9ac4d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3d959a19c1447e" /><Relationship Type="http://schemas.openxmlformats.org/officeDocument/2006/relationships/notesMaster" Target="/ppt/notesMasters/notesMaster1.xml" Id="Rd89b5d344b2c46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6d1cf1f4cc44a8" /><Relationship Type="http://schemas.openxmlformats.org/officeDocument/2006/relationships/notesMaster" Target="/ppt/notesMasters/notesMaster1.xml" Id="R75d97d83e3e846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222ea69a6649d6" /><Relationship Type="http://schemas.openxmlformats.org/officeDocument/2006/relationships/notesMaster" Target="/ppt/notesMasters/notesMaster1.xml" Id="Ref3a2d8e99ff44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8b3716e5664c45" /><Relationship Type="http://schemas.openxmlformats.org/officeDocument/2006/relationships/notesMaster" Target="/ppt/notesMasters/notesMaster1.xml" Id="R66eb2ffde1714d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bf438caa88446c" /><Relationship Type="http://schemas.openxmlformats.org/officeDocument/2006/relationships/notesMaster" Target="/ppt/notesMasters/notesMaster1.xml" Id="R448d28f4124b44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b66b620b3f4d91" /><Relationship Type="http://schemas.openxmlformats.org/officeDocument/2006/relationships/notesMaster" Target="/ppt/notesMasters/notesMaster1.xml" Id="R1e3be24a02cf4a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4afbe5df1f4f2e" /><Relationship Type="http://schemas.openxmlformats.org/officeDocument/2006/relationships/notesMaster" Target="/ppt/notesMasters/notesMaster1.xml" Id="R5278dc76686647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4ca67aca4b4393" /><Relationship Type="http://schemas.openxmlformats.org/officeDocument/2006/relationships/notesMaster" Target="/ppt/notesMasters/notesMaster1.xml" Id="Redc371deef9f41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9c8176d6ad4d79" /><Relationship Type="http://schemas.openxmlformats.org/officeDocument/2006/relationships/notesMaster" Target="/ppt/notesMasters/notesMaster1.xml" Id="Rbe15a9aff3ac4d8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940780ca844866" /><Relationship Type="http://schemas.openxmlformats.org/officeDocument/2006/relationships/notesMaster" Target="/ppt/notesMasters/notesMaster1.xml" Id="Rf5614c0315df408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365f392127404b" /><Relationship Type="http://schemas.openxmlformats.org/officeDocument/2006/relationships/notesMaster" Target="/ppt/notesMasters/notesMaster1.xml" Id="R1c5217dc80f0454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140e7630c8346c7" /><Relationship Type="http://schemas.openxmlformats.org/officeDocument/2006/relationships/notesMaster" Target="/ppt/notesMasters/notesMaster1.xml" Id="Rc1b63839e73e44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08bbf2a98e4ff0" /><Relationship Type="http://schemas.openxmlformats.org/officeDocument/2006/relationships/notesMaster" Target="/ppt/notesMasters/notesMaster1.xml" Id="Raf661eff324c4c0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b84f5d873814924" /><Relationship Type="http://schemas.openxmlformats.org/officeDocument/2006/relationships/notesMaster" Target="/ppt/notesMasters/notesMaster1.xml" Id="Ra7e97373458049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cd09707fc8b4fd1" /><Relationship Type="http://schemas.openxmlformats.org/officeDocument/2006/relationships/notesMaster" Target="/ppt/notesMasters/notesMaster1.xml" Id="R3a4b4659ccd044a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358053fade44ae7" /><Relationship Type="http://schemas.openxmlformats.org/officeDocument/2006/relationships/notesMaster" Target="/ppt/notesMasters/notesMaster1.xml" Id="R2b0d0e3d123248d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b3be46a507b4a08" /><Relationship Type="http://schemas.openxmlformats.org/officeDocument/2006/relationships/notesMaster" Target="/ppt/notesMasters/notesMaster1.xml" Id="R244bf1870c45494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bb919ee04f34ee1" /><Relationship Type="http://schemas.openxmlformats.org/officeDocument/2006/relationships/notesMaster" Target="/ppt/notesMasters/notesMaster1.xml" Id="R01389ddf8fb3409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bdb54005f834953" /><Relationship Type="http://schemas.openxmlformats.org/officeDocument/2006/relationships/notesMaster" Target="/ppt/notesMasters/notesMaster1.xml" Id="R6d5bc39bc17744f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e916a7841154ee1" /><Relationship Type="http://schemas.openxmlformats.org/officeDocument/2006/relationships/notesMaster" Target="/ppt/notesMasters/notesMaster1.xml" Id="R44c14fe7187a4cf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309323cd7974c56" /><Relationship Type="http://schemas.openxmlformats.org/officeDocument/2006/relationships/notesMaster" Target="/ppt/notesMasters/notesMaster1.xml" Id="Rbf1c3f0d77a14f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d6e274905498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1b1b879bcec4990" /><Relationship Type="http://schemas.openxmlformats.org/officeDocument/2006/relationships/slideLayout" Target="/ppt/slideLayouts/slideLayout2.xml" Id="R63d830e9d3a14a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d830e9d3a14a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c4487fda9b4315" /><Relationship Type="http://schemas.openxmlformats.org/officeDocument/2006/relationships/notesSlide" Target="/ppt/notesSlides/notesSlide1.xml" Id="R525fbbbe65444a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2fca4b1e064d81" /><Relationship Type="http://schemas.openxmlformats.org/officeDocument/2006/relationships/notesSlide" Target="/ppt/notesSlides/notesSlide2.xml" Id="R9989d7e6415c49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9041438c234373" /><Relationship Type="http://schemas.openxmlformats.org/officeDocument/2006/relationships/notesSlide" Target="/ppt/notesSlides/notesSlide3.xml" Id="R0a46bc1fb77147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f5511401f1457c" /><Relationship Type="http://schemas.openxmlformats.org/officeDocument/2006/relationships/notesSlide" Target="/ppt/notesSlides/notesSlide4.xml" Id="R88a8a31ab6a54a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4b236f55fa4685" /><Relationship Type="http://schemas.openxmlformats.org/officeDocument/2006/relationships/notesSlide" Target="/ppt/notesSlides/notesSlide5.xml" Id="R060a8934471a4a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5047c18ee94cdb" /><Relationship Type="http://schemas.openxmlformats.org/officeDocument/2006/relationships/notesSlide" Target="/ppt/notesSlides/notesSlide6.xml" Id="Rab7bb92d3d2c46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6532ca1b68494b" /><Relationship Type="http://schemas.openxmlformats.org/officeDocument/2006/relationships/notesSlide" Target="/ppt/notesSlides/notesSlide7.xml" Id="R4ffe62f1527b4a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970f4f99dc4185" /><Relationship Type="http://schemas.openxmlformats.org/officeDocument/2006/relationships/notesSlide" Target="/ppt/notesSlides/notesSlide8.xml" Id="Rf88ff48718f74b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85579178274bbd" /><Relationship Type="http://schemas.openxmlformats.org/officeDocument/2006/relationships/image" Target="/ppt/media/image.png" Id="R757ddfd45a3e48b0" /><Relationship Type="http://schemas.openxmlformats.org/officeDocument/2006/relationships/notesSlide" Target="/ppt/notesSlides/notesSlide9.xml" Id="R78084bbdf1d74a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f66b9b652d465a" /><Relationship Type="http://schemas.openxmlformats.org/officeDocument/2006/relationships/notesSlide" Target="/ppt/notesSlides/notesSlide10.xml" Id="Rf79d014e2aa14a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798706e6564477" /><Relationship Type="http://schemas.openxmlformats.org/officeDocument/2006/relationships/notesSlide" Target="/ppt/notesSlides/notesSlide11.xml" Id="R508d4a5295de4c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9b5cb13e4f4436" /><Relationship Type="http://schemas.openxmlformats.org/officeDocument/2006/relationships/notesSlide" Target="/ppt/notesSlides/notesSlide12.xml" Id="R7d0ab208b97941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c834c80bb54ecf" /><Relationship Type="http://schemas.openxmlformats.org/officeDocument/2006/relationships/notesSlide" Target="/ppt/notesSlides/notesSlide13.xml" Id="R63d4710ed8044c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885455cdc043d7" /><Relationship Type="http://schemas.openxmlformats.org/officeDocument/2006/relationships/image" Target="/ppt/media/image2.png" Id="R75f6386411234566" /><Relationship Type="http://schemas.openxmlformats.org/officeDocument/2006/relationships/image" Target="/ppt/media/image3.png" Id="R15d820e66d554b01" /><Relationship Type="http://schemas.openxmlformats.org/officeDocument/2006/relationships/notesSlide" Target="/ppt/notesSlides/notesSlide14.xml" Id="R8f6a9fbcf18749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a0c69b675045da" /><Relationship Type="http://schemas.openxmlformats.org/officeDocument/2006/relationships/notesSlide" Target="/ppt/notesSlides/notesSlide15.xml" Id="R3ffae828820a4d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db47cb8e2741e8" /><Relationship Type="http://schemas.openxmlformats.org/officeDocument/2006/relationships/notesSlide" Target="/ppt/notesSlides/notesSlide16.xml" Id="Rd3acc4cc8dca407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4026a7d61042f5" /><Relationship Type="http://schemas.openxmlformats.org/officeDocument/2006/relationships/image" Target="/ppt/media/image4.png" Id="Rb36a8784f0f14310" /><Relationship Type="http://schemas.openxmlformats.org/officeDocument/2006/relationships/notesSlide" Target="/ppt/notesSlides/notesSlide17.xml" Id="Raf5cf7f5794d42f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4455cd42564186" /><Relationship Type="http://schemas.openxmlformats.org/officeDocument/2006/relationships/image" Target="/ppt/media/image5.png" Id="Rdfe337fe601f45ed" /><Relationship Type="http://schemas.openxmlformats.org/officeDocument/2006/relationships/notesSlide" Target="/ppt/notesSlides/notesSlide18.xml" Id="Raf9a02aa2c1f41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c3c04b866c49d8" /><Relationship Type="http://schemas.openxmlformats.org/officeDocument/2006/relationships/image" Target="/ppt/media/image6.png" Id="R373cf25c04ae4d02" /><Relationship Type="http://schemas.openxmlformats.org/officeDocument/2006/relationships/notesSlide" Target="/ppt/notesSlides/notesSlide19.xml" Id="R74dc9036a5dc4a3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6c5838e62a418d" /><Relationship Type="http://schemas.openxmlformats.org/officeDocument/2006/relationships/image" Target="/ppt/media/image7.png" Id="Ra38d0b50a78846a4" /><Relationship Type="http://schemas.openxmlformats.org/officeDocument/2006/relationships/notesSlide" Target="/ppt/notesSlides/notesSlide20.xml" Id="R79df1def015846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5934b0c85d4a12" /><Relationship Type="http://schemas.openxmlformats.org/officeDocument/2006/relationships/notesSlide" Target="/ppt/notesSlides/notesSlide21.xml" Id="Rca70b8e0687f441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6410529b3646d7" /><Relationship Type="http://schemas.openxmlformats.org/officeDocument/2006/relationships/notesSlide" Target="/ppt/notesSlides/notesSlide22.xml" Id="R0b5bbf83157d4a4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5b0ff761254dbd" /><Relationship Type="http://schemas.openxmlformats.org/officeDocument/2006/relationships/notesSlide" Target="/ppt/notesSlides/notesSlide23.xml" Id="Ra91c387c5a77485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33ada5b1bf448a" /><Relationship Type="http://schemas.openxmlformats.org/officeDocument/2006/relationships/image" Target="/ppt/media/image8.png" Id="R2fbc539edeaf47c3" /><Relationship Type="http://schemas.openxmlformats.org/officeDocument/2006/relationships/notesSlide" Target="/ppt/notesSlides/notesSlide24.xml" Id="Raace3e49fdb845a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be54706be444ad" /><Relationship Type="http://schemas.openxmlformats.org/officeDocument/2006/relationships/notesSlide" Target="/ppt/notesSlides/notesSlide25.xml" Id="Rb2a102112d0d47d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5bc25612b748a6" /><Relationship Type="http://schemas.openxmlformats.org/officeDocument/2006/relationships/notesSlide" Target="/ppt/notesSlides/notesSlide26.xml" Id="R675368a9cd4e450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06e8dabbb7444e" /><Relationship Type="http://schemas.openxmlformats.org/officeDocument/2006/relationships/notesSlide" Target="/ppt/notesSlides/notesSlide27.xml" Id="R1da40550cc064e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7D53D-250F-4251-8C83-D8536DB7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EA5A7-2DA4-4655-9497-DE98D517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2E05D-2FC7-452A-9717-9FADED1C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76B16-8DD1-4AF7-8A73-8CCFA6A7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B853C-548A-479D-9EF0-913FB7F5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1E51D-E889-44E8-ADB9-4BC82231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D3ED0-399F-4CEF-8E83-04D471CB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00252-A3CD-46DE-A492-0CB46661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96DAE-8A3D-41E6-B9A3-CD86BBC6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4F346-A970-4F52-A7B8-1F78FFF1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DAF5A-377C-404E-90D4-BEEA34C3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7C532-E40D-48C3-AA9E-2CC3E0BF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6212D-8F4D-4E8B-B7E6-CDDE601E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F587C-8A14-474E-B9AC-B283D84B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C1FFD-4FEA-4E59-94A5-CD3DE1FD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7A1F5-4542-416B-AFAA-E898D8ED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F347F-5DB0-40BF-90C0-B1BF0C80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74A7C-A0F5-4FD5-9393-F8F16BA2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72997C-52B7-4322-9972-97F85BB3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660E1-D313-4371-AEAA-C2B06A0B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ABBF9-0636-4428-9C4B-146D7E70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F958E-FA05-4946-8B7B-8605317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3A19D3-E81A-4055-A73B-2806F93E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HENAN POLYTECHNIC UNIVERSITY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BCD4F0-B1AF-4DA0-8D84-40243841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90650"/>
            <a:ext cx="552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基于ESP32的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749FC-09B6-4D58-984A-279B1E43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240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低功耗触控智能手表系统设计与实现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E9DAB-DF34-4785-B2A8-4231547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B5CB5A-F9BA-4917-B75A-227F6459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194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rPr>
              <a:t>毕业设计答辩汇报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D34634-1348-453D-B733-BFC6EF80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答辩人：吴钰锟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AFB2CE-1336-4D3D-92F7-3C2F11AB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指导教师：乔美英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D4F88D-72D0-4194-B488-D8321388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AF3FF"/>
                </a:solidFill>
                <a:latin typeface="Microsoft YaHei"/>
                <a:ea typeface="Microsoft YaHei"/>
                <a:cs typeface="Microsoft YaHei"/>
              </a:rPr>
              <a:t>ESP32-S3R8 / FreeRTOS / LVGL / 低功耗 / OTA</a:t>
            </a:r>
          </a:p>
        </p:txBody>
      </p:sp>
    </p:spTree>
    <p:extLst>
      <p:ext uri="{BB962C8B-B14F-4D97-AF65-F5344CB8AC3E}">
        <p14:creationId xmlns:p14="http://schemas.microsoft.com/office/powerpoint/2010/main" val="18240200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F62D7A-DE19-4632-A0F8-EA5D5CDC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3B71B-3FE0-4409-BA5F-832D8005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-2476500"/>
            <a:ext cx="771525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B08C7-67AA-4DC6-B019-66DB0B8C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9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FFEF1-7678-41AF-9FF8-25B84287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8382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A6E3C-3E61-4A40-AD76-6A591C95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18BC2-D082-4AC5-B2B3-C82FCF20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1455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C0876-D6F2-4957-AD37-6397D34C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288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883DC-B58A-493E-9983-FCBB2782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098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背景、小标题与技术路线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1B271-8296-4D4B-9264-EA7E1378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00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2C6A8-7F99-465D-A860-C5212AE7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27660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84E54-8CE5-4987-BA85-B215C693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908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B4919-C1D5-4FD2-A9B0-71B959E5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7187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器件选型与分层架构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E3316-0EBF-4FF6-A4B8-7178D68B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7CC6C-B19A-4A85-8FC9-9FEDFD6B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43865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757AC-7015-49E3-A533-F9DFD751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529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BB48E-FE14-44F9-970D-CAE9F009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339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最小系统、显示触摸与电源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FE443F-CF1E-4E36-931C-BD035AFF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E5571-7C88-45A3-B090-E69EA7C3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11455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95EC0-6B9F-4F87-BCED-9989585F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288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软件设计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AC429-C18A-4FB0-9EC3-FBBA5D65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098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任务划分与核心流程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987E4-2349-4F63-B465-95E557C2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64DD3A-F903-4D66-A50B-45EB65E1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27660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F26A1-05D9-44C0-8093-756FEDB0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908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系统调试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B4E1F-567B-4B9F-90E3-8D97FDCE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7187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功能、功耗与问题分析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D3A075-ED3B-4EF4-88FC-8384075B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E25FAB-62E8-497A-970F-5D83B378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43865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6099A3-9631-45FB-ADCF-9D02D029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529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79BC42-583E-4742-840F-A506F0FD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339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实现内容与后续优化</a:t>
            </a:r>
          </a:p>
        </p:txBody>
      </p:sp>
    </p:spTree>
    <p:extLst>
      <p:ext uri="{BB962C8B-B14F-4D97-AF65-F5344CB8AC3E}">
        <p14:creationId xmlns:p14="http://schemas.microsoft.com/office/powerpoint/2010/main" val="15515295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A833B9-42F5-49F6-8324-FAE364F0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D9125-E6EF-4E8E-961C-CABA8B36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01022-2F79-4662-860E-086F2600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61F04-0081-4310-A6AC-2B0228DA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9606D-4B87-41CA-A88F-5BCE4534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0A7D2-1190-4CF5-A9C1-605D2DE1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40DB8-0E54-4022-B7D8-8498F562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C2434-2A62-4C24-A8F3-54516ECF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C08A9-1C46-4A4D-BD98-77DC36E2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41A5F-67DD-43A6-BD9F-757D3B47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0A954-29E2-43F4-86EC-81FAED41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A19AD-034F-482F-B4BC-7F9E04FC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B93ED-B669-4CB6-A567-D93C8E6B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F725F-776D-45C6-BA2D-7098D902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975D3-8ABC-4765-848E-FFC5CB3F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FCDF8-D15D-4B25-BA2A-F2C10357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FB51E-36AF-4A7F-853C-3CAA9407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7FB495-016C-4760-BC59-11931B28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8B4A9-2B6D-44CA-8C37-2B1FA838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EA4A3E-DE9F-4AC2-87B4-ECC85958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3EFD7-9ACB-497F-80F0-197BEE4F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7BCF97-7467-468E-AA9E-DE57502A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DBA66-6D41-4BD8-8046-2DE600B2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63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E611FD-48DE-407F-AFBE-C9499728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C2627-1B3D-4B16-9273-EE206EEC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10898A-CCB8-4663-9673-F590B1D7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rPr>
              <a:t>从智能手表市场背景引出本课题的设计路线</a:t>
            </a:r>
          </a:p>
        </p:txBody>
      </p:sp>
    </p:spTree>
    <p:extLst>
      <p:ext uri="{BB962C8B-B14F-4D97-AF65-F5344CB8AC3E}">
        <p14:creationId xmlns:p14="http://schemas.microsoft.com/office/powerpoint/2010/main" val="8240340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33BAF3-572E-456F-9EC1-07C352BF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0457F-9799-432A-B8BE-398652CD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D7629-69BC-40CA-A19B-4DECD29F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3CA4E-F977-4EE3-85F0-7B1EDEAD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89DF9-6D21-4636-BB79-0624EC82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6A618-5FF3-4F47-80CB-949221CF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D4FC1-B3A8-4AEB-B2A2-FA3C7CF2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29EDF-9148-499C-BEB7-91EF24DC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研究背景：常见智能手表路线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45169-EA83-4A10-831E-25E22874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29E4C-0F53-4F7A-AFF0-2DC74937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7625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411A1-1104-4A6C-A0FB-8DED3683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952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BA945-19D6-4975-BE32-C5E8C296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426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高端品牌路线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516C0-599C-416D-90E9-FA43E1B0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267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苹果、华为、三星等品牌通常采用高集成SoC、成熟操作系统和完整生态服务。其优势是操作体验流畅、传感器与算法完善、佩戴体验较好；不足是研发投入、物料成本和整机售价较高，不适合低成本教学样机直接复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3A34D-386D-4F24-99D2-8875222D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95450"/>
            <a:ext cx="5334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3C2B6-63A0-43B9-A802-4D852613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95450"/>
            <a:ext cx="952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EA57E-85C8-4394-AC0C-6E98FAA3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66900"/>
            <a:ext cx="483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国内常用低成本路线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A0496-C4BE-4C48-83CE-FA33CFD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4838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低成本手表市场常采用杰理、珠海鸿芯等定制化手表芯片。芯片厂商通常同步提供已写好的手表Demo SDK，厂家通过宏定义配置、界面素材替换、表盘资源替换和局部功能微调，就能较快形成可量产产品。该路线开发周期短、投入少、落地快，但底层架构、交互方式和产品基调容易被SDK锁定，深度定制需要重新理解厂商封装逻辑，产品也更容易趋于同质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302C0E-0758-42E7-BDFB-9AD1EE69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979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67FE9-A471-4DFF-B660-CDD43AF3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1017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引出问题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154E4-4325-4689-A988-B6D38D62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62550"/>
            <a:ext cx="8001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现成SDK适合快速量产，但难以展开更深层的二次设计；本课题转向开放MCU平台，从硬件、任务调度和UI刷新机制出发验证另一种实现路径。</a:t>
            </a:r>
          </a:p>
        </p:txBody>
      </p:sp>
    </p:spTree>
    <p:extLst>
      <p:ext uri="{BB962C8B-B14F-4D97-AF65-F5344CB8AC3E}">
        <p14:creationId xmlns:p14="http://schemas.microsoft.com/office/powerpoint/2010/main" val="305328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E2A8D2-8F7A-4EFE-BAF8-21DD4670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6319B-F020-435A-ACC7-068B3210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853AB-8CFB-4744-94D3-40E82430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45DC7-8D90-428C-A7AD-2991EE04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F5DC5-B9FA-4621-A2C6-DCAFCB42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99473-45DC-49E3-A4AC-6752E23D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745B8-1FED-4C5E-830A-937CEC01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3C3EA-99EC-439A-BA32-FDE81A18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本课题方案：开放MCU平台下的手表原型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18522-86AD-4872-9E19-D5167DD7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3F696-956B-4583-B87E-A39DAB02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676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ESP32-S3R8 + FreeRTOS + LVGL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CD3C2-CC98-4363-B09F-30B11345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445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5FC43-4975-44B6-815D-1686B168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5ED3C-BD4C-46A2-9315-3ED18339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798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不依赖封闭手表Demo SDK，从硬件驱动、任务调度到UI刷新自行搭建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A95D3-F55B-47E0-AB63-E934E406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A8694-56A0-41A3-A1D9-F2AA186C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52800"/>
            <a:ext cx="798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用FreeRTOS拆分存储、网络、OTA、多媒体与显示任务，降低互相阻塞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0F983-C237-4A60-B82B-D0081D63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B84DA-813B-4EAF-879D-9A96CF33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798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用LVGL和GUI Guider构建小屏交互界面，便于快速调整页面与功能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3EDA7F-18E8-4C1E-9181-10655DD2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05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C3D1C-2C62-4142-B6B7-09F69D60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19600"/>
            <a:ext cx="798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保留WiFi、SD卡、RTC、OTA和低功耗接口，便于后续扩展传感器与云端功能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03A18-9F66-4072-928A-0D18CEDC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46D95-8C0F-4BBF-9B94-98A1E8BA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66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240×284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EC46FC-C6B8-4E2A-9DD4-6B6ACF68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显示分辨率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21F46-9696-4E4A-B0D9-2E9BCBC7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622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1.83英寸触控屏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9206D-9DC3-4EFD-A087-51CB4ECB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9090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0D4074-29E5-4BA8-9FE4-F4AF5620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双级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72E910-56B6-4AF8-BF2C-FA5FB96B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3385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休眠策略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1FF4F7-F4BD-4744-81BA-582C4899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9580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轻休眠与深休眠</a:t>
            </a:r>
          </a:p>
        </p:txBody>
      </p:sp>
    </p:spTree>
    <p:extLst>
      <p:ext uri="{BB962C8B-B14F-4D97-AF65-F5344CB8AC3E}">
        <p14:creationId xmlns:p14="http://schemas.microsoft.com/office/powerpoint/2010/main" val="2164122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CA1690-EECE-4111-8204-EDDB2B4C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4823E-5403-4725-90EB-EF9C1E06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4B14E-1167-4781-BABD-48B16357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22B39-4408-4D77-914C-1AA91F92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C8080-094C-4297-B67C-83E3CB8C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F63F9-EA60-48C1-9B93-A73595EC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022B3-8E3F-49CE-8B26-34058BDF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D410A-0229-46D7-AD77-8BD0E259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系统设计需求与性能指标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F28AA-2FBB-4A70-8E9A-E475EB2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113B8-B99A-4370-AF6B-A79EDD91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设计需求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79EF3-FCF8-4D1C-90E9-D7DA8026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BB680-7C65-4D80-A19F-54AFA2D9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B4B5C-67FC-42B7-95D8-9D4BF384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基础显示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7AF0D-F6FB-47C8-87D2-B86007E4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表盘、日期、时间、壁纸切换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8E1D6-C25A-4490-8425-F5F6A9A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8120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3A825-36D1-4437-8AC5-E31CFD6E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336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29ECC-B1C4-471C-B027-F73F2302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触摸交互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B07C5-EB37-45FE-B030-F61594DA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717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点击、滑动、返回、快捷面板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30022-BD70-4B73-94CF-5A13F9FC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8120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F5001-D584-4975-B9E0-74E50F8E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336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E635F-0BC0-4340-BA90-562411CE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14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本地资源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4CDFF1-3F0D-4086-B3DD-2B48B5D9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717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SD卡图片、MJPEG视频、TXT小说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6AE58-6F3D-4892-B04E-D8C8D73B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8120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F9DD2C-06E8-4690-89A4-51014AA8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53E397-1363-4773-8599-C4CB41E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联网维护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0B83D8-66D9-433E-9E82-1E6341D6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717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WiFi、天气、NTP、MQTT、OTA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061212-B784-443E-ACC2-C680D32F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8120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64083C-2303-4979-9FDC-376299F1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336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16154B-A298-4A8F-AEDA-5A83449F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14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低功耗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642B12-3DAF-4593-BBC8-C7D04949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717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轻休眠、深休眠、按键唤醒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73AAB0-6E80-4729-9F15-5CF2FD64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0553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229C78-2626-47B6-9640-861D2044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性能指标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79109C-E73E-4733-BE87-C77BD315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50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AA389B-80CB-4996-B470-AD582A6A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≤50ms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0D0202-6733-49A2-8296-FC47341F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触控响应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7564FA-A018-4AF4-9307-08E55CEB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0065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点击与滑动及时反馈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958994-DFBA-4B9B-9F1D-FFF80DBD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95750"/>
            <a:ext cx="150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A62056-CBEF-47F8-B162-99F719CE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053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约25fps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B79DB7-2652-491C-BACA-E05C9A8F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387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A2567E-B63B-4B07-9475-C646BE8B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0065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普通MJPEG连续播放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23664C-8C3A-4400-85AB-D72CCBAC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150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6028C5-3BDA-43EC-BEAC-DFE96946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053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120s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0831A4-6A23-4804-9064-251BDBE1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387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轻休眠触发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14BC8C-BAD0-41C0-AE75-684D6093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0065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无操作自动进入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33756F-D7A3-4B97-81DA-73E6B912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150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057C0B-2FB4-43E4-8279-F87976B2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约3s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98D83A-B0EB-449B-93F9-1F3DD758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387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深休眠触发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D87765-5936-4402-B33B-0FAC29A1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0065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长按确认键进入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201B5D-AFF9-4535-B1CC-0A9D3D69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150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7ADF8D-6BA3-442E-8FC6-A54725F2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0.008A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9317DE-ED85-42C6-8CE5-C8E9AAB0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387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轻休眠电流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C56210-866E-4165-8CB2-4F5B3D6D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0065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关闭背光与部分外设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E55D18-6E23-479A-ABC2-83DF80CB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95750"/>
            <a:ext cx="150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678349-3732-4373-AB29-A83D844F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053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0.006A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9FD5BD-755D-4EF9-A4BD-63A18278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8387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深休眠电流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524881-C1EA-4E71-AE3B-356B2432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20065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仅保留必要唤醒条件</a:t>
            </a:r>
          </a:p>
        </p:txBody>
      </p:sp>
    </p:spTree>
    <p:extLst>
      <p:ext uri="{BB962C8B-B14F-4D97-AF65-F5344CB8AC3E}">
        <p14:creationId xmlns:p14="http://schemas.microsoft.com/office/powerpoint/2010/main" val="14542240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B4F440-D51E-44BC-82EE-B83831E3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536EC-10C2-4FE7-9F79-BB75720E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6574B-CB1F-41DC-9A6B-72E881C7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1F76F-326D-41F0-B2D2-4842108E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6CF5E-3853-42F8-9953-F8491BFF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AA80D-DBC7-479F-83BD-C4014413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E6D9A-0DBB-4EDD-B2A2-B1E9B4F8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A4EB1-A445-4643-BA06-3725AA78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E54D7-F5FD-4EF9-B7B5-3801BE42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B3FB2-65DC-454F-ABF6-BA0837EC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4B01D-4F9D-4E49-B0BC-D9939E94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6E713-4C6F-4932-85CE-A2287731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1013F-E4EF-4937-A03F-1C2D9ED4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42DAD-6050-4EF1-89B8-7FD6ED38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DE4E5-64D1-4BEE-96FA-C3FE1730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4C00D-CBF6-4E3E-92E2-CF764388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5F696-0E96-4B2E-AF63-706B38B1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A4023-56D8-4605-9713-AAD4C3F6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A2E49-F012-4982-BF1B-AE3F84E6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4AB86-0F59-427B-B3B0-4E9C0984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7AC063-E334-473F-864B-006CF04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20C32-6FB5-44A6-A3D8-CB636912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5590BD-E342-4546-BA9D-DAD82220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63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912DD2-5485-4126-AB1B-378E1401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0FAF5A-48ED-4CF1-BF6A-0FFA139E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6B8029-826C-4A8F-9B1C-52574F9F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rPr>
              <a:t>器件选型、功能边界与系统分层架构</a:t>
            </a:r>
          </a:p>
        </p:txBody>
      </p:sp>
    </p:spTree>
    <p:extLst>
      <p:ext uri="{BB962C8B-B14F-4D97-AF65-F5344CB8AC3E}">
        <p14:creationId xmlns:p14="http://schemas.microsoft.com/office/powerpoint/2010/main" val="12105423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A5AB4D-8ECF-4EF1-9AF2-302E9DDD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F1F51-373F-447B-BF68-24E7185D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6127E-13F0-4E60-B0D8-065E0D43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2FB2C-AD18-41B0-8511-42FE639D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58684-71A0-4176-8020-F4676AAD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410AE-0B9C-4BC2-8523-54597597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3B307-FE30-4ABB-BA10-337EE0E3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C1A67-88FD-443A-8E57-84E2F370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总体方案：核心器件与功能边界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F4A77-F1ED-4080-9821-72AABE43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45BF6-554A-4221-BF92-56B1AA52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8669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1664A-6E8A-4B47-9B5B-F7E41759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9525">
            <a:solidFill>
              <a:srgbClr val="3854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9DF69-1E84-4278-8F91-C4B095C3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主控平台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DA4FF-94CE-4BCF-9703-600AEEA2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562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双核240MHz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8MB PSRAM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9BC03-A30C-4196-842F-DEF2B99E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52600"/>
            <a:ext cx="18669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EE2A3-05E8-4EEA-9CA0-BB19A414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526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9525">
            <a:solidFill>
              <a:srgbClr val="22A7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60CCB-CFAF-4E02-84D3-95BD95DC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859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显示交互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A151D-E47A-4151-83BE-CA61CDC1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90800"/>
            <a:ext cx="1562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1.83英寸触控屏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ST7789P3显示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CST816T触摸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D959E-CC52-4798-ACEC-B27E9CD1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52600"/>
            <a:ext cx="18669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49F83-F03F-4908-93D5-4417F279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526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9525">
            <a:solidFill>
              <a:srgbClr val="20A6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D7DA4-DE2E-4BB9-A919-FD7994E5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存储时间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5EFD9-5917-4A95-8BA7-DDD45ABC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90800"/>
            <a:ext cx="1562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W25Q128 Flash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Micro SD卡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SD3078 RTC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028EA-3CFB-4C14-8431-67D3B62A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52600"/>
            <a:ext cx="18669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C0638-8EB1-4CCE-AF1C-B07E887E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526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1B"/>
          </a:solidFill>
          <a:ln xmlns:a="http://schemas.openxmlformats.org/drawingml/2006/main" w="9525">
            <a:solidFill>
              <a:srgbClr val="F2A21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4D3246-68F3-4F72-8BCD-C5B58BB0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859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39EB9D-4893-469E-9325-1EEF7B40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1562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FreeRTOS任务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LVGL界面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GUI Guider辅助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B6BFE8-068B-4E10-9139-93E7CDDF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52600"/>
            <a:ext cx="18669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4B1110-44CE-4374-9AA2-215437CA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526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B"/>
          </a:solidFill>
          <a:ln xmlns:a="http://schemas.openxmlformats.org/drawingml/2006/main" w="9525">
            <a:solidFill>
              <a:srgbClr val="E35D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03E4D8-41FB-492F-80B2-C5EC7868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859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联网维护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B28181-0B6C-4C97-A2D7-9707344D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90800"/>
            <a:ext cx="1562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WiFi连接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天气/NTP/MQTT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本地与云端OTA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5DC6B6-ED3C-4E7D-B420-6E76683B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D3AC75-C1EC-4F1E-81F1-AAA22F5C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总体边界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395907-6C15-43BC-B7FF-F606B99A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339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硬件提供显示、触摸、存储、时钟、网络和电源能力；软件完成任务调度、界面刷新、数据读取、网络协同与低功耗控制。</a:t>
            </a:r>
          </a:p>
        </p:txBody>
      </p:sp>
    </p:spTree>
    <p:extLst>
      <p:ext uri="{BB962C8B-B14F-4D97-AF65-F5344CB8AC3E}">
        <p14:creationId xmlns:p14="http://schemas.microsoft.com/office/powerpoint/2010/main" val="14398296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AF24DD-42D4-4C02-8A56-BF04EED1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B9123-BF10-405F-8F69-65993F94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C26D3-9F3B-435A-878B-9A3BCD93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300C3-C074-40F9-9DB7-707844B5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F3CAF-957A-4F55-881E-7FD8B2BB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FE895-10D4-4E32-862A-6E57B6C9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D91A6-CC7B-4496-A72B-D3B622A3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31B30-D884-4266-AC3B-FF57C4EC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总体架构：硬件支撑、任务协同与显示刷新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BF2C0-71A2-41B1-9241-4397B3ED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318D2-154B-432D-ABD7-64F16415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8096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ddfd45a3e48b0"/>
          <a:stretch xmlns:a="http://schemas.openxmlformats.org/drawingml/2006/main"/>
        </p:blipFill>
        <p:spPr>
          <a:xfrm xmlns:a="http://schemas.openxmlformats.org/drawingml/2006/main">
            <a:off x="889955" y="1581150"/>
            <a:ext cx="7306940" cy="4114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60DA0-74BC-4898-A1C3-D8CD6C3E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383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DB741-6E32-4BB6-9157-ED079F8F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A5E01-5E6D-41CD-A5CA-8F3DA074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717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硬件层封装显示、触摸、存储、时钟、网络和电源能力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71B69-AB1C-4CF1-BF3B-841F796C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5C7E2-414B-4A3C-8906-C271A554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应用层按功能拆分为系统服务、OTA、多媒体、网络和存储任务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41BC3-B0E4-413A-B5DF-0B767B36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B8500-17DF-487C-A04E-1317F718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433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应用层状态变化统一写入异步消息队列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E76F7-059B-40D1-8EE8-02391207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2B045-FE30-4875-B090-A4A4D063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291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显示层消费队列消息，完成页面刷新、事件分发和屏幕输出</a:t>
            </a:r>
          </a:p>
        </p:txBody>
      </p:sp>
    </p:spTree>
    <p:extLst>
      <p:ext uri="{BB962C8B-B14F-4D97-AF65-F5344CB8AC3E}">
        <p14:creationId xmlns:p14="http://schemas.microsoft.com/office/powerpoint/2010/main" val="7333241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1CB91B-1811-499E-8177-FD5EEA91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A61A9-5ECC-4A85-854C-CB44969B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50897-9F30-4CFF-8FBF-7DF1D0DB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AD8EE-27F6-41EA-A028-64D1B588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90D5E-7A5A-4717-B8B9-EAB17FB2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56D16-2847-41CF-ABEB-8339DDDE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A004D-3A0F-4CBF-8662-E7A2141D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8FDD8-E22C-4990-BA94-88960495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CB4E9-8190-4E5D-A391-75F1209A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1AA1E-D8E0-4C5D-9119-1DFB4E99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2249F-B51B-4DF4-A6F8-F6D3110C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07158-97EB-4FCD-9F66-F49554DE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9C224-4177-4D20-A32D-8F6297B4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2E2D6-DFB0-4CA9-8712-77378BC1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A9B0B-D247-4218-92FF-5B59F465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96709-245B-4291-8CA4-3250CFA0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F1586-40AE-4DF5-943B-BE4D7598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4610A-500C-4160-85FD-D1A94E71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F37D85-4C30-4332-8C86-FE14C26B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CFDC8-3D5A-47C8-8B13-A3FD443B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70CBFF-281A-43DF-B82C-3688B85C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8685C9-BB61-4A01-8E4A-9A467013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144BC-34DC-4319-954C-4C04EB0C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63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75E619-919A-4905-A354-DC342C58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431B4-A0AE-4B1D-893F-F1317EFD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4B7F5-0A0F-4DA5-98DF-6DFAFACA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rPr>
              <a:t>围绕最小系统、显示触摸、存储时间和电源路径展开</a:t>
            </a:r>
          </a:p>
        </p:txBody>
      </p:sp>
    </p:spTree>
    <p:extLst>
      <p:ext uri="{BB962C8B-B14F-4D97-AF65-F5344CB8AC3E}">
        <p14:creationId xmlns:p14="http://schemas.microsoft.com/office/powerpoint/2010/main" val="20496890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816352-DA53-4E80-B392-3767AE9F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E666A-5FC4-47D6-AA22-4DA14F29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CDBE8-3425-4E7C-B454-5D423181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D49FC-B0C9-433C-8F74-098DCD86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B4520-AA59-4593-AD00-80647442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A0D06-0560-4B61-849C-CD550570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EACFE-ABC1-4E84-906E-27A1CBD1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FD715-2CF6-4E3F-933C-B76318FE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最小系统：ESP32-S3R8芯片级设计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D0D67-85E7-4C4B-BD58-84387E29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8C658-F002-45E6-A5AF-F76708D0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4857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FDCFA4-A1FB-457E-A925-80E780AA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5D695-2BCB-4973-9AC0-3DC1BDA9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24050"/>
            <a:ext cx="436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1B301-939A-41B7-A028-96C95296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436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双核32位处理器，最高240MHz；片内合封8MB PSRAM，用于图形缓存、多媒体缓冲和任务运行空间。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228C4-B8DE-4A90-9982-2F837F6E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4857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5B659-591A-47AC-835C-A5F1C4C0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C2A9C-80C2-45DA-B4F8-85DC6EB7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36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W25Q128 Flash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403FA-6B32-45A8-9ECB-5EBB6560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436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外扩16MB串行Flash，用于程序固件、图像资源、配置参数和升级备份等非易失性存储。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48678-DE19-46C8-A48F-4ED8A0C5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4857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93EA7-311B-4D43-BB64-D8BA0832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90CEE7-EBF5-4758-A60B-D1EF705A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436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40MHz晶振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8F2555-CC37-4B15-8504-2946C54C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436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为主控提供稳定系统时钟，同时配合复位、启动配置和下载控制电路完成可靠启动。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1C1777-5B72-492A-A77A-B7BEE682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4857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27A349-2ACD-4238-8A92-7013A425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A48A6D-70C7-4134-980D-682B715F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0450"/>
            <a:ext cx="436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射频与天线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9ED705-4C5F-41A5-9A5E-ADBDB171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57650"/>
            <a:ext cx="436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2.4GHz陶瓷天线与匹配网络用于WiFi链路，布线和阻抗控制影响无线稳定性。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89407A-3B2C-4D1F-9366-9E844AC3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4B071C-6030-4E52-9CFC-359CDCAB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0200"/>
            <a:ext cx="885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设计重点：芯片级布板提高空间灵活性，同时需要重点保证电源完整性、时钟稳定性、射频匹配和高速总线信号质量。</a:t>
            </a:r>
          </a:p>
        </p:txBody>
      </p:sp>
    </p:spTree>
    <p:extLst>
      <p:ext uri="{BB962C8B-B14F-4D97-AF65-F5344CB8AC3E}">
        <p14:creationId xmlns:p14="http://schemas.microsoft.com/office/powerpoint/2010/main" val="5408703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2C1156-DFBD-4903-A7AA-40081E07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19EB6-70E7-450F-AAC8-0A9ECE46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3C6DD-0E47-4627-96C6-FBD7466B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C06C7-EEB8-46E6-94E7-EC27A236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996E2A-5B39-4E8A-A7C6-20056B5D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CBBB7-6807-441F-9DB7-1EE009AD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0E58A-6C77-4E0B-8BEC-54DDBA21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D383F-1298-4352-AE01-66603BAD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显示触摸、时间与存储接口设计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01A1A-F2F9-41F2-BCE2-1EE22616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943EF-7F58-4809-B9D2-8F4D3BE9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91FA7-192F-4F3C-A69E-4D1A4D07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95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79F83-8385-4881-9E35-A9ECD99A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2838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显示触摸模组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E878E-CF0B-40BF-BD74-4114C72C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28384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1.83英寸240×284一体化模组；显示端采用ST7789P3，通过SPI与DMA搬运提高刷新效率；触摸端采用CST816T，通过I2C与中断实现坐标读取和唤醒。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F3089-913A-469B-A99C-B49C9AFA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0E814-BD11-41B3-BB58-CC9B75F5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95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38BB7-DCBD-4E3B-A831-CCB6A36E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66900"/>
            <a:ext cx="2838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时间与存储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3CDBC-6A43-4274-B86F-2800366D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384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SD3078独立RTC承担断网守时、时间同步和事件记录；Micro SD卡作为图片、视频、小说和本地OTA固件的大容量外部存储。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72D42-32C7-4310-B859-EC710365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954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C2D22-31AF-49D4-A534-DBC8DC3A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95450"/>
            <a:ext cx="95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EF034-7F69-4240-AE6A-51470F79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66900"/>
            <a:ext cx="2838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下载调试接口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4EC86-2051-4E57-8348-5DBD3AD5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28384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Type-C接口统一承担供电、固件下载和调试通信；复位与启动配置电路配合完成程序烧录和异常恢复。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C6C28D-AC4C-4F4E-9DE9-0DF803D2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81600"/>
            <a:ext cx="9601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42F461-1438-436A-B2CF-D397E3ED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76850"/>
            <a:ext cx="914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硬件链路：SPI负责高吞吐显示和存储，I2C负责触摸与RTC等低速外设，GPIO负责复位、背光、卡检测和休眠唤醒。</a:t>
            </a:r>
          </a:p>
        </p:txBody>
      </p:sp>
    </p:spTree>
    <p:extLst>
      <p:ext uri="{BB962C8B-B14F-4D97-AF65-F5344CB8AC3E}">
        <p14:creationId xmlns:p14="http://schemas.microsoft.com/office/powerpoint/2010/main" val="44037132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04993F-2444-4829-BED6-5EDAE20C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E2390-310A-42EA-B4C3-60521669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B6E2B-0EEE-4F55-BC8D-23BE7BF1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0FA40-0A3E-4735-BD4C-D87EFF5D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8D5A6-E1A6-4452-BE2A-83ADE76C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ECA6C-CDCA-465C-9730-68BA21D6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F31F7-3BA9-45D4-8D68-E73C81C2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F937A-3677-43C2-863B-B15AF6BB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电源路径：充电、稳压与休眠唤醒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38F4B-575C-4A7B-A8BB-624CB599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38125-6D9C-4D90-9091-96CD9C73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2286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6DDA3-26CE-4788-AFA0-454F6799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3.0-4.2V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CE1B4-8CDC-4CB6-8DD1-A56A5256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锂电池输入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F9842-F363-4613-9929-7950F288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单节锂电池随电量变化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DBA8D-65F2-4946-810E-04772682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2286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CF1B6-F0C9-4E82-8F99-40482ED8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240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3.3V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2A502-5996-4A81-A329-5B592687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574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系统供电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51615-EC90-41B0-B2BB-5E6BE294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194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ME6217低压差稳压输出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A612F-3FB7-4E9B-AC54-816024CC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286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9EE21-B4C3-4938-B415-81230CA1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5V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E6D432-C5C8-4052-9EEA-B48D3D27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Type-C充电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D9EB59-DB12-4D05-9C13-E6899D78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充电状态硬件指示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B14CB-7788-4241-9556-322E7FAD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286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21944-9A06-4E97-8582-23B9574D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GPIO7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51563-7E98-4409-8A43-D304D591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深休眠唤醒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8A6A77-D34B-485C-96A8-3A52FD9D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194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实体按键防误触唤醒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C9FB41-486C-497F-9FD5-5A40F02B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FEABC5-AD39-49C3-B457-0DCFCC3E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864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输入与输出端配置滤波和去耦电容，降低纹波与瞬态干扰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F5FBFB-92FE-4D73-84F1-DE4CE615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C16481-CECC-4E0A-855E-8D6613C6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38650"/>
            <a:ext cx="864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充电芯片提供过流、过压和温度保护，提高电池安全性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670AF8-48BC-492D-8667-BAABEDE0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57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A7DAE4-C4B4-4828-813B-B083CE38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72050"/>
            <a:ext cx="864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LightSleep保留快速唤醒能力，DeepSleep关闭更多资源以降低待机功耗</a:t>
            </a:r>
          </a:p>
        </p:txBody>
      </p:sp>
    </p:spTree>
    <p:extLst>
      <p:ext uri="{BB962C8B-B14F-4D97-AF65-F5344CB8AC3E}">
        <p14:creationId xmlns:p14="http://schemas.microsoft.com/office/powerpoint/2010/main" val="8679155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E70730-CA9A-4118-B46A-9B56F8AC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6233D-AE9E-4A76-B281-B83C9021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86E11-BF98-466E-8E71-E2A66F42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072E9-6FEC-4907-AE46-10CD378F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ED572-6EE5-40AE-9618-2259DC50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5D8BF-6992-4B94-8E26-78C07A73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A447C-A512-47D5-88A2-A45ECF09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C7AA7-780A-4883-9652-E057570E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硬件实物：主板器件与屏幕连接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CD434-C2A2-4E01-9549-38E64235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DA26C-12FD-499D-BF8B-ABB62B8F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9530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6386411234566"/>
          <a:stretch xmlns:a="http://schemas.openxmlformats.org/drawingml/2006/main"/>
        </p:blipFill>
        <p:spPr>
          <a:xfrm xmlns:a="http://schemas.openxmlformats.org/drawingml/2006/main">
            <a:off x="1796004" y="1581150"/>
            <a:ext cx="2770692" cy="36957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A22C5-D638-46CA-8538-52EA4DAC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9F719-D700-4092-ADF0-B9C6BA6B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468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主板正面与主要器件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1CE53-832B-4E96-A5BB-47EFEE5D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49530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820e66d554b01"/>
          <a:stretch xmlns:a="http://schemas.openxmlformats.org/drawingml/2006/main"/>
        </p:blipFill>
        <p:spPr>
          <a:xfrm xmlns:a="http://schemas.openxmlformats.org/drawingml/2006/main">
            <a:off x="7415754" y="1581150"/>
            <a:ext cx="2770692" cy="3695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F65E9-165D-41CF-9F4E-5B814AF9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70ACC-70F0-4EF7-B9FB-EE4283C1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43050"/>
            <a:ext cx="468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触摸屏FPC连接结构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1A291-F4EA-48FC-9215-73E97C70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62600"/>
            <a:ext cx="982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7E3AC-A714-44E1-8F91-23482974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388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实物调试重点：确认Type-C供电与下载、Micro SD卡座、SD3078 RTC、W25Q128 Flash、ESP32-S3R8主控以及屏幕FPC连接可靠。</a:t>
            </a:r>
          </a:p>
        </p:txBody>
      </p:sp>
    </p:spTree>
    <p:extLst>
      <p:ext uri="{BB962C8B-B14F-4D97-AF65-F5344CB8AC3E}">
        <p14:creationId xmlns:p14="http://schemas.microsoft.com/office/powerpoint/2010/main" val="52329011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F2F146-95C5-4C68-AF5B-7602A0BA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5F188-0C4E-4260-871D-6ED01694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23DB4-E921-4F9B-8127-7F94981C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0D964-F7C6-4DA7-A011-DCF34200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FE23A-A36A-46D3-B8BD-89EF26D7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308B8-FBAA-4E96-B75D-CCA6FF50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EC10D-1ADE-4B59-9DD3-702A9D09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8DC06-B85F-45E1-AA6E-F80A16BD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B9E24-D797-4E10-90E8-78002BED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24081-799C-4EE0-B453-0F6AB794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E79E9-56BA-4FEC-9049-FE393EF7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F2FB2-F96B-44A1-9019-141CEEEA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006D1-07FD-45E8-A1CD-3B75229B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CD923-5825-4035-A53F-D6CEA1A6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2A2A4-FF93-45A0-898C-71147A03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D5050-C17F-4678-9A7D-502B09B1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369BD-C706-47BB-9A5E-6FC62CBB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17B87-1135-4B28-A731-13572B68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A141BE-ED90-4952-B725-154748E1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8CD8F-95EA-4436-BFAE-3E32A9CB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49F2BC-AFE1-4D8E-ACC5-5F4469B9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A0C2A-07CD-41A4-B6E0-2670A81A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03CC6C-3A62-4CAA-9272-55487250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63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D9020-0F65-434C-AD35-D312A812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C43AC5-6220-4B10-8713-9247E18D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436822-8C8F-4108-BB68-A3CE9C7D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rPr>
              <a:t>用FreeRTOS划分任务，用消息队列连接业务与显示</a:t>
            </a:r>
          </a:p>
        </p:txBody>
      </p:sp>
    </p:spTree>
    <p:extLst>
      <p:ext uri="{BB962C8B-B14F-4D97-AF65-F5344CB8AC3E}">
        <p14:creationId xmlns:p14="http://schemas.microsoft.com/office/powerpoint/2010/main" val="8303647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6D5FA6-9C89-42A5-BE2B-95F0220F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5DFC6-5001-4992-947D-50789BD8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B997E-3DB6-4BA4-A7A3-F2D10258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75896-F4D5-4EEF-9CE6-BF262CF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687B4-AD27-47B0-A21F-BAEC4790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4148C-F6D9-438B-8EEA-C25E5BD4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2E319-9F4F-45D0-98B1-F819DD94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4353E-43A2-4491-A8CB-BF9CB745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软件架构：从底层驱动到界面刷新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D4CEC-011B-4D7D-BAA2-B26DA9FA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913BE-28A4-4F9D-9075-245062CD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38300"/>
            <a:ext cx="9791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A55CE-ADAA-419A-82D9-8ECC034B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383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106CF-23AE-44C5-BB05-9B8030A1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78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硬件层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9CAFA-198E-4301-89F8-9B161C92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695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ST7789、CST816T、SD卡、Flash、RTC、WiFi、电源</a:t>
            </a:r>
          </a:p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通过SPI/I2C/GPIO等驱动封装为上层接口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E64F4-D5BE-4128-891C-6F1AEC9A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622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704DB-E327-4393-9C9F-8704DA3F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622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FB2E2-BAC9-41DF-BF3E-BDDCDAEC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9791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0DB75-78CC-42E5-B875-71A0D476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EAF74-F1A2-4E01-AD74-875980A3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2C94C-A7CC-4205-911A-B1AE8395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43200"/>
            <a:ext cx="695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时间、天气、存储、多媒体、OTA、游戏、功耗控制</a:t>
            </a:r>
          </a:p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由FreeRTOS拆分为相互独立的任务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7E7E10-2FE6-47CC-9E4A-816EF764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F34E97-43F2-469B-8FFD-D365ABFF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528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7D513-9D01-4CDF-A65A-9F87DC4A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9791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E31A8-13A9-408C-A10A-85A9C043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DAEA0-149C-4145-A465-2C63267A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异步消息队列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4A53C-F268-47D0-8FDB-854FFF6F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695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业务状态、页面请求、进度信息、任务间协作</a:t>
            </a:r>
          </a:p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统一进入队列，避免多任务直接操作UI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E1D779-570A-41D2-BEA0-BC070468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434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9C1325-9E08-454E-8B80-AAFB581F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434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FCC4AB-9379-4F10-B673-656C650B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9791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3003DD-06A5-461C-BE0A-53E34ACB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4233C9-8613-4E01-9486-48829299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显示层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942EA-A78E-47FA-88FE-C4F8613D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24400"/>
            <a:ext cx="695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LVGL显示线程消费队列消息</a:t>
            </a:r>
          </a:p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完成页面刷新、事件分发、控件重绘和屏幕输出</a:t>
            </a:r>
          </a:p>
        </p:txBody>
      </p:sp>
    </p:spTree>
    <p:extLst>
      <p:ext uri="{BB962C8B-B14F-4D97-AF65-F5344CB8AC3E}">
        <p14:creationId xmlns:p14="http://schemas.microsoft.com/office/powerpoint/2010/main" val="96420177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0ACDD1-3152-4243-BE24-9DE49BCA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EAE15-2B97-4641-BBBE-48F42306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6FDC9-EEEE-49AD-A668-A68F688E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32371-21E7-4F9D-9F97-44CFA137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4BF9E-0189-415F-9C7D-552E6AEE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39952-D772-4D99-A394-35000051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13553-1792-4859-B834-CB4C345D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EEB60-2030-4F47-B355-E99A0776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SD卡与多媒体流程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F2B23-446B-483E-BF46-87685483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5AE03-DA67-48F6-B78A-E3957955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8105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a8784f0f14310"/>
          <a:stretch xmlns:a="http://schemas.openxmlformats.org/drawingml/2006/main"/>
        </p:blipFill>
        <p:spPr>
          <a:xfrm xmlns:a="http://schemas.openxmlformats.org/drawingml/2006/main">
            <a:off x="2667996" y="1543050"/>
            <a:ext cx="3503208" cy="4210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921F4-3C3C-4BD7-9A69-4639138F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573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讲解重点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17712-3727-447C-BFDA-305CCD22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95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7A584-E004-47C3-ADB9-718E53E5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启动阶段初始化SD接口并挂载FatFS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35142-D790-4052-9BD9-B882FCFA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89D80-374F-4679-9595-344C3376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1940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扫描/sdcard资源，建立图片、视频、小说文件列表缓存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3331A-8746-4E50-A7F3-EA7B640B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14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C8147-D2DD-4457-BEEE-F521AE71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图片分块读取解码，减少内存占用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F3BF70-E67B-4222-8B36-94A9CA8C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CD40F2-3EA5-438C-9AFC-FAD2008C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3860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视频帧和小说翻页通过消息通知显示层刷新</a:t>
            </a:r>
          </a:p>
        </p:txBody>
      </p:sp>
    </p:spTree>
    <p:extLst>
      <p:ext uri="{BB962C8B-B14F-4D97-AF65-F5344CB8AC3E}">
        <p14:creationId xmlns:p14="http://schemas.microsoft.com/office/powerpoint/2010/main" val="187470553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9EB788-F58C-420F-8168-3B620E7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26627-241C-43AC-9708-7C9F3E60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638E6-2549-423B-AA51-7A13A57A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B235C-7A9E-4874-9F3C-F1E0872B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756E8-EF84-4AF9-9012-544130CB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99593-5905-44F0-AF60-026C155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E894D-3AC6-47E2-B61D-4E70E6BB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56301-2F86-490B-B9AF-CB20B0C5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时间同步流程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73575-2C07-49CD-BFD1-4583DB07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73B34-AF05-4848-BDCF-70EF5590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8105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337fe601f45ed"/>
          <a:stretch xmlns:a="http://schemas.openxmlformats.org/drawingml/2006/main"/>
        </p:blipFill>
        <p:spPr>
          <a:xfrm xmlns:a="http://schemas.openxmlformats.org/drawingml/2006/main">
            <a:off x="3293054" y="1543050"/>
            <a:ext cx="2253092" cy="4210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6C9BC-3C69-4F2C-B070-4905D6DB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573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三条时间来源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36E11-CC90-4570-9A78-F3549A55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33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F586A-F947-4441-B80D-64E37A5C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47900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上电读取RTC校准系统时钟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79FC8F-2B73-401D-8401-819C9AC0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04D5E-5C49-40C0-8B08-FE9C1E0E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38450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联网后SNTP校时并写回RTC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0921B-60DF-43AC-A0C8-34013908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14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04133E-0EAA-4EA2-8418-89F2961C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无网依靠RTC守时并刷新缓存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3AFA1-C96F-4DF1-86B1-61BAAAE8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8BB4A-291E-4607-AD92-68682387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19550"/>
            <a:ext cx="2419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手动改时同步写入系统与RTC</a:t>
            </a:r>
          </a:p>
        </p:txBody>
      </p:sp>
    </p:spTree>
    <p:extLst>
      <p:ext uri="{BB962C8B-B14F-4D97-AF65-F5344CB8AC3E}">
        <p14:creationId xmlns:p14="http://schemas.microsoft.com/office/powerpoint/2010/main" val="7232554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44ED22-F54C-4B1A-94BA-89A89546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F0052-4650-4486-AC71-9A8466C7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BEB3A-99A2-43A6-AD6E-F618DC31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B9A16-D718-4BF8-9F23-75C14C6A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97978-725A-45FF-8DC8-5B46CA10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74FAF-4D92-4FDC-B356-E8CCB83A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6E39E-A51B-40FE-B12D-C525C1F7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3A450-3175-434F-BA89-1ED60DC0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OTA升级流程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DBCDE-5229-48D9-9618-6C60CB7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5F1EA-B426-4698-B9B2-4D3CBC42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8105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cf25c04ae4d02"/>
          <a:stretch xmlns:a="http://schemas.openxmlformats.org/drawingml/2006/main"/>
        </p:blipFill>
        <p:spPr>
          <a:xfrm xmlns:a="http://schemas.openxmlformats.org/drawingml/2006/main">
            <a:off x="3043394" y="1543050"/>
            <a:ext cx="2752412" cy="4210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08352-865B-43B5-B608-EBD1CDE8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573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升级策略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C1EBF-78AA-4BF0-8D4A-4E91251A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33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2D537-2A27-4651-86B3-7B56DE42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4790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支持云端OTA与本地SD卡OTA两条路径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E7F62-C1EF-43CE-9D08-6973F63B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548C05-857F-4FF9-8E86-27FBE546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5750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读取当前运行分区，写入备份分区并进行校验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9E4FC-E3F3-4255-BA07-2589146D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23B3D-8DFC-4E3B-9351-139AA352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6710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升级完成后重启或点击跳转按钮进入新固件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53287-C27F-4D94-B708-93421694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85289-AC53-4858-8D9A-C36D43AB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76700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若新固件启动异常，则回滚到上一可用分区</a:t>
            </a:r>
          </a:p>
        </p:txBody>
      </p:sp>
    </p:spTree>
    <p:extLst>
      <p:ext uri="{BB962C8B-B14F-4D97-AF65-F5344CB8AC3E}">
        <p14:creationId xmlns:p14="http://schemas.microsoft.com/office/powerpoint/2010/main" val="184337434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142FBD-0825-4015-9C43-284E8BE8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80CC0-FCD7-4B8D-8C5A-D06CD3A3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00A5E-B27E-4B8A-87DF-8882BF0B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00C4A-DBD8-407F-9521-79BB6755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EFD0D-F268-4DDC-B91D-02ED63F2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D84EF-2BFA-44A4-9E68-815F38D6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F3597-BA01-4A60-9ACF-4C918547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8A8A1-C38C-41F8-94F9-53E86713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低功耗流程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FB178-F3CB-4ECE-AF01-1A71B60D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7ECDC-F62E-45AD-A0EB-E974486C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8105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d0b50a78846a4"/>
          <a:stretch xmlns:a="http://schemas.openxmlformats.org/drawingml/2006/main"/>
        </p:blipFill>
        <p:spPr>
          <a:xfrm xmlns:a="http://schemas.openxmlformats.org/drawingml/2006/main">
            <a:off x="2812619" y="1543050"/>
            <a:ext cx="3213962" cy="4210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D1C68-51E4-4ECE-B235-ECD589F7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573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双级休眠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896CB-0A4F-445A-9F4E-7FF86DB8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09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05B81-EE12-4BA1-8FB2-93CA53CE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24100"/>
            <a:ext cx="2419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120秒无操作：进入轻休眠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B4DAF-ADEF-4BBD-869A-58DC4026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F0283-47AF-4E1E-B97C-D657BF96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2419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长按确认键3秒：进入深休眠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62A45-3DC1-4589-938F-AE940F38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A5E3D-BC69-40B7-8F3F-38829A04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62400"/>
            <a:ext cx="2419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轻休眠快醒，深休眠防误触</a:t>
            </a:r>
          </a:p>
        </p:txBody>
      </p:sp>
    </p:spTree>
    <p:extLst>
      <p:ext uri="{BB962C8B-B14F-4D97-AF65-F5344CB8AC3E}">
        <p14:creationId xmlns:p14="http://schemas.microsoft.com/office/powerpoint/2010/main" val="139738866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FA4FC1-16DC-4904-B4F3-DED7EF1F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638C6-199E-4A84-BC3A-E775BDAC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8C49D-CD2A-4FA8-B592-1F981446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A76C8-56B1-4081-B76E-00456514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2A19D-7B4F-475B-B80D-88E51B15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52BD1-68FE-4213-98CF-85A28FD6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00A86-DCDC-4B93-8BEC-8F82D493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1EBB5-BD4D-494E-A1EB-77691E92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8B022-260F-423B-BD59-BB196ED1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35183-5FD0-4EBD-B387-30105C63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F9935-A08C-4DCA-84C4-B7BD3586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97715-A648-44D8-A3B7-0422D9E4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59278-6157-4004-9E9D-801E9B6D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80626-23C1-49B4-96DF-96CA0BBC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3A42B-A771-4B2C-ADB3-B85024DF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59B8D-6EE7-440E-855A-87D06173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C7D05-A532-447A-8295-82A492E8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1F175-1DCC-462E-BBBD-08840491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38851-4583-4AF7-B1A6-4660087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22010-2FE9-402C-B7BB-EAE27F76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86D91-D9D1-48F5-A7C6-90100E13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BF8D8-6EA0-407E-8E49-8A8E2BAC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C8978-540B-4E3E-B489-567E0FD5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63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2453C9-4124-4740-9B0A-BE99C088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0ABFE1-8B61-4BC1-881F-D7747D0C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系统调试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3213C-4406-4C24-A512-E569EDA8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rPr>
              <a:t>从硬件连通、功能验证到功耗评估</a:t>
            </a:r>
          </a:p>
        </p:txBody>
      </p:sp>
    </p:spTree>
    <p:extLst>
      <p:ext uri="{BB962C8B-B14F-4D97-AF65-F5344CB8AC3E}">
        <p14:creationId xmlns:p14="http://schemas.microsoft.com/office/powerpoint/2010/main" val="27178095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70E469-4AD3-4C39-9E6C-6EA03C74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91DC9-26A4-4EB9-AEC7-8228F44A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DB78E-6943-4E4C-A7EB-2C51B037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99BD6-9339-43FD-8BF5-515F4F0A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28991-AC3C-4414-953B-89CFEB81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996A0-0F96-4E9F-939F-E8C73A49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987F6-B43A-44F4-A8D2-7CFEFAD8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39CAF-7420-43F5-9427-7148B502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调试过程：先连通，再验证功能闭环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44A19-C7F4-452B-8E9E-D1A40036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2228D-1436-4C49-86E3-474D84F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C5B4F-810F-4BE9-85F9-1ABEF85C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847850"/>
            <a:ext cx="38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78A3D-74CC-4435-A257-E6A87ABA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266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34746-8109-46AE-884F-DD8458D3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硬件检查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DF2CE-439B-4250-8307-8F3BFD72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焊接、电源电压、Type-C下载接口、复位启动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0C856-A8EA-45C4-A08B-B528B41B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764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545E8-04CD-4344-BCF1-D5C10588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050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D3CFF-6EA5-4A65-A866-2E39AFA7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2C2C4-DF72-40A6-8FD8-DB501A39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47850"/>
            <a:ext cx="38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E1D0A-E5B4-4E9B-8FFC-A9FB8ED0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2266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F4F77-5F93-4AF7-84F6-FB65D1B7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外设连通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90AFA-6EFA-47A5-8307-2985F39D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0995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LCD显示、CST816T触摸、SD卡挂载、RTC读写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FBE3F3-5562-432F-B0CC-DBBC7331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CB1052-F60B-489D-991E-7A1A7535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73622E-FDD1-4F32-96AA-85CA8B89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2A0A2A-B9CE-4ABD-BEAC-88694BDD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47850"/>
            <a:ext cx="38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E30B95-76DA-4379-847E-5F871388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2266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B85397-84AA-4C41-9B82-A17D4503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业务验证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B8BC05-2629-4ADA-A4A2-E8A15E85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表盘切换、图片壁纸、MJPEG播放、TXT断点续读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629927-2956-4703-B43A-605B8E8E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764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6160AE-E386-4744-BDEC-6EB6B2A6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D57103-34B4-419E-BC3B-60AB4670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0BF1A7-0A04-412A-9583-965FA07F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847850"/>
            <a:ext cx="38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8A075C-03D2-4E7A-BB81-74DAF3E6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24150"/>
            <a:ext cx="2266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A1D453-3FD2-4C17-B483-4F384F2D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527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联网维护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B11161-C8DB-4DA0-8C4E-817AC381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0995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WiFi连接、天气/NTP、MQTT通信、本地与云端OTA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F9CFEC-A5A0-445C-B893-03572860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791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B79962-6200-4C62-9276-2E7CA74F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05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测试结论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9EDA6B-3057-4A3D-9BDB-CC4D6E4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863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系统能够完成主要交互与业务流程，高负载下的卡顿、掉帧和画面撕裂是后续优化重点。</a:t>
            </a:r>
          </a:p>
        </p:txBody>
      </p:sp>
    </p:spTree>
    <p:extLst>
      <p:ext uri="{BB962C8B-B14F-4D97-AF65-F5344CB8AC3E}">
        <p14:creationId xmlns:p14="http://schemas.microsoft.com/office/powerpoint/2010/main" val="213389400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7324E8-1197-4722-9870-C0DFBC01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D831B-CCEE-4430-A1F7-98C3C163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B7A1F-780B-4F37-A4C7-D472E3DB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BC36E-0A76-480D-8CE5-5EA0AB43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8719D-8564-4299-B3BB-3AA70749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F62DE-7378-45EB-9ACC-78ECF92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9D623-111A-4983-98E7-48945489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05D2C-86D6-4967-9AFF-40AD9605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功能测试结果：核心业务基本闭环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3A22B-446B-4EA5-8CAE-7F5ADEBB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70EB0-06AF-449F-88ED-BB55E099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手势交互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224B7-BD4E-4D6A-A0DE-4530AE83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716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F4"/>
          </a:solidFill>
          <a:ln xmlns:a="http://schemas.openxmlformats.org/drawingml/2006/main" w="9525">
            <a:solidFill>
              <a:srgbClr val="DAE8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DBD38-4499-480A-857F-5E3220BE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71650"/>
            <a:ext cx="45567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9525">
            <a:solidFill>
              <a:srgbClr val="20A6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B812A-8AEA-49D7-8CDA-96509E48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954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9EE7C-81DB-4FD4-BC6D-FE8E0190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668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表盘、主菜单、快捷面板切换正常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FC4CC-218E-423C-A618-D52D0E8F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384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图片壁纸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7EAAC-1C9B-458C-8558-3337DD2A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F4"/>
          </a:solidFill>
          <a:ln xmlns:a="http://schemas.openxmlformats.org/drawingml/2006/main" w="9525">
            <a:solidFill>
              <a:srgbClr val="DAE8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E74E4-573C-4F7B-B7E8-BC91A9B1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41605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9525">
            <a:solidFill>
              <a:srgbClr val="22A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681E4-B4BC-4EC0-B9F0-D8B0CCCF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D0E97-8F32-4CE4-BC04-0E3FD30C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907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支持SD卡图片浏览与壁纸更换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D5D97-602E-4362-B4AA-4FF1126B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C6707-60E3-4C60-A4CC-6EC12A7F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F4"/>
          </a:solidFill>
          <a:ln xmlns:a="http://schemas.openxmlformats.org/drawingml/2006/main" w="9525">
            <a:solidFill>
              <a:srgbClr val="DAE8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048571-6AF0-4A5C-AE74-E79A832F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40614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1B"/>
          </a:solidFill>
          <a:ln xmlns:a="http://schemas.openxmlformats.org/drawingml/2006/main" w="9525">
            <a:solidFill>
              <a:srgbClr val="F2A21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6EAA09-A624-45BF-A628-D6E4CB99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82%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873F6A-316C-4616-B239-735134CD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146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MJPEG可连续播放，高负载下偶发掉帧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F6EDEE-2ED7-4E22-BFC0-D7639750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小说阅读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16ECFC-C0B0-4CD5-A70D-A151BD55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43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F4"/>
          </a:solidFill>
          <a:ln xmlns:a="http://schemas.openxmlformats.org/drawingml/2006/main" w="9525">
            <a:solidFill>
              <a:srgbClr val="DAE8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5F5D1B-AFBA-470B-812A-8C9840F8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43350"/>
            <a:ext cx="46558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9525">
            <a:solidFill>
              <a:srgbClr val="20A6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509C9D-9FD7-44EE-A2CC-22A29B6E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671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14F315-95BB-4E9F-AD35-E4F1F9A2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385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TXT分页读取，支持断点续读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28D00F-FCD8-450F-A3E2-35CE904A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网络OTA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A9B218-1BC9-4027-838C-34506269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67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F4"/>
          </a:solidFill>
          <a:ln xmlns:a="http://schemas.openxmlformats.org/drawingml/2006/main" w="9525">
            <a:solidFill>
              <a:srgbClr val="DAE8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CE05CD-8F85-48BD-A49C-3660CB7E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67250"/>
            <a:ext cx="445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9525">
            <a:solidFill>
              <a:srgbClr val="38548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5B47AF-96E9-42F0-8907-2336065F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910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D29824-4B3B-4924-A562-E3DE6347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624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WiFi、天气、NTP、OTA流程验证通过</a:t>
            </a:r>
          </a:p>
        </p:txBody>
      </p:sp>
    </p:spTree>
    <p:extLst>
      <p:ext uri="{BB962C8B-B14F-4D97-AF65-F5344CB8AC3E}">
        <p14:creationId xmlns:p14="http://schemas.microsoft.com/office/powerpoint/2010/main" val="93190315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72A37B-C28A-4113-A6EE-1852665A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CC046-ECAE-4E47-AFD7-9EBDB0F1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9F1A2-0646-4210-BED5-ED5CF8EF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2AB6E-DBF4-4837-B93A-AA7DD7A7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3964C-95DE-4857-9C1B-ABE42F12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173AA-3B9B-47DC-AE05-FFB6C615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1419F-B2FA-4BC4-91C0-61E77056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93DB9-E71C-49E1-B11E-E382EBD1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功耗测试：工作状态电流趋势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4EE58-257A-4FAD-B926-91D643A8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10275-CAC4-41DC-87FA-0A7960D6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781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c539edeaf47c3"/>
          <a:stretch xmlns:a="http://schemas.openxmlformats.org/drawingml/2006/main"/>
        </p:blipFill>
        <p:spPr>
          <a:xfrm xmlns:a="http://schemas.openxmlformats.org/drawingml/2006/main">
            <a:off x="914400" y="1695450"/>
            <a:ext cx="7429500" cy="3714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BD7AE-8D19-4866-B2B3-A09C66A4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测试结论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A37F4-C384-47C9-AA71-7F511E3F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33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F2CF1-5D32-438F-A3EB-0A71C315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47900"/>
            <a:ext cx="2533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满亮联网时电流最高，理论续航约1.9小时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3A195-4DE0-4728-BCAD-27778CB9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26715-2AA5-4E5E-900E-8DADF1A1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67050"/>
            <a:ext cx="2533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低亮度并关闭联网后，亮屏续航约7.7小时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20429-5F11-499B-B6DB-75324DD8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71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8ABF1-EC43-4A3B-BE36-AA8A06A6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2533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轻休眠和深休眠进入毫安级电流，适合待机存放</a:t>
            </a:r>
          </a:p>
        </p:txBody>
      </p:sp>
    </p:spTree>
    <p:extLst>
      <p:ext uri="{BB962C8B-B14F-4D97-AF65-F5344CB8AC3E}">
        <p14:creationId xmlns:p14="http://schemas.microsoft.com/office/powerpoint/2010/main" val="56030536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FDCEA1-93C3-4B9B-8C86-E65DCED2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A643E-1063-4353-A46A-40ED3A45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3444B-9726-4520-924F-0500A415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C52DD-2018-44AC-946B-A1E46276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7CEF6-1065-4558-9ADD-8FB3086D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1D346-4182-440E-AB51-83CF548F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A68F6-3FBB-4064-9A06-BFF4586E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91CBA-E6CF-4B3B-95AA-D12E3050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不足分析与后续改进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3EEA9-DDC1-4938-B870-D91BC9C3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BA63B-FF69-4718-AFE7-46C63451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6E136-C5C2-4E5A-89EA-7FE856C7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F570F-6751-4A3C-AD1E-AB441B80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45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显示同步与总线带宽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E7849-9744-4AE7-9A0B-B7903BC0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457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高负载下仍会出现轻微撕裂、卡顿或掉帧；后续可引出LCD TE同步信号，并将SD卡由SPI升级为4-bit SDMMC。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40C25-1BF6-4245-864B-1D7CE649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20F1D-D846-4425-9F3E-AC1FB70C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3DC9C-D065-4302-AA0A-6EF770B4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47850"/>
            <a:ext cx="445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硬件电源与低功耗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4FA6C-A8D3-46AF-BF8E-20ACCA5E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4457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LightSleep与DeepSleep仍为毫安级电流；后续可增加负载开关或PMOS电源门控，深睡时切断非必要外设供电。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3C218-1F50-40E6-840F-88F1A624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BC715-894D-462B-888B-E801411E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94CE6-4457-4212-8DCA-CC5BA533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445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RTC备用电源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69CBA-5CBC-4570-BA29-70880EDB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4457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当前RTC仍依赖主电池；后续可加入法拉电容或小容量备用电池，主电池耗尽后仍能保持基本走时。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8A03E-4B41-4091-A22C-79E531A1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5280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931A0-7692-4D93-ABB0-2C030E45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5280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4ACEB-76CA-4433-94A1-262C9C6E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445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5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35D5B"/>
                </a:solidFill>
                <a:latin typeface="Microsoft YaHei"/>
                <a:ea typeface="Microsoft YaHei"/>
                <a:cs typeface="Microsoft YaHei"/>
              </a:rPr>
              <a:t>结构小型化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27FCBF-27C3-48F2-AEBB-A80340C1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81450"/>
            <a:ext cx="4457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3D打印外壳和FPC连接占用空间较大；后续可优化PCB与FPC座位置，降低整机厚度并提升佩戴体验。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05BEA2-43DE-4995-A24A-2CCD54DC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4102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后续目标：更平滑显示、更低待机功耗、更小整机体积。</a:t>
            </a:r>
          </a:p>
        </p:txBody>
      </p:sp>
    </p:spTree>
    <p:extLst>
      <p:ext uri="{BB962C8B-B14F-4D97-AF65-F5344CB8AC3E}">
        <p14:creationId xmlns:p14="http://schemas.microsoft.com/office/powerpoint/2010/main" val="123309049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C5688D-C406-4CB9-9308-6B96637C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FAD94-EBBC-43B8-AFBB-E3C75DAB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B311A-D951-4F30-9D70-DB74714F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F7102-A323-4545-9D25-6958C870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3FE95-2C2D-4D61-BA09-7784BF0C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12510-B38D-47C7-A803-9D7B74DC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75019-A39B-4BCE-B0D3-D369D0E8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DBCBD-063A-4D8C-868C-73F72EF0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7B8DE-7947-4F4B-8A18-FBF1071C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A9503-9D49-4CE0-895F-0379937A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32570-C14C-4189-8095-F47A9E59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4319F-8101-47D0-AC8A-1E7F8A25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E0552-2326-4E39-88D5-982D7123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71DA3-0254-40A5-90D5-39787859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B1977-5C18-4524-BE8F-18385DFD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2C5A4-D445-4DA6-82C2-492B6162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290C9-814C-43E8-9EB6-5AC2EBA2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B8C0A-9822-45D3-9881-04C1869A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72EBA-3F97-431B-A0C3-72994BC3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24EDFF-E767-4DF9-A482-6CFFF5D9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1DC458-6F8E-4D76-92C5-35D7D5A1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3DDC44-F9E0-4006-BB23-28950717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4091C-3B72-43AD-9102-2562C6E1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63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989A2A-5BA5-402B-B949-449FD249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E076BD-0A73-4248-8A2C-E53733DC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35F8E5-5C20-428C-9E57-BBECB2D9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rPr>
              <a:t>完成原型验证，并明确后续工程化优化方向</a:t>
            </a:r>
          </a:p>
        </p:txBody>
      </p:sp>
    </p:spTree>
    <p:extLst>
      <p:ext uri="{BB962C8B-B14F-4D97-AF65-F5344CB8AC3E}">
        <p14:creationId xmlns:p14="http://schemas.microsoft.com/office/powerpoint/2010/main" val="72221453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74855-B289-4D01-A46C-3A36EBB2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33C26-6DC6-4408-AB40-9A98EC54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12B45-F1A0-43A5-92DB-BE08F142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8F0FF-8371-44A6-83E7-A97E5F09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F5C36-E4A8-4958-9822-CF3541A9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0F451-BF4C-4642-9885-6BF0C78F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D20BC-66D4-44AB-8858-CFC1C46C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5A0BD-2DEA-4949-8AF3-D11DADF7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566D6-15EF-4103-AECF-D03A1871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762F1-A714-4940-BDDF-8D9797A0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7773C-7DC8-4141-B9B0-1A29C8E9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7C2CE-13AD-4BF3-B17D-B36D3545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C08FF-6090-4E6E-9743-200F8529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DBA7B-FD6D-4252-B9D2-FD095D62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51050-4D27-4581-B2B8-CBFEFA52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640B5-A4A1-43F7-BF95-9028666C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B4420-0CE6-4BC9-BA61-7CCC978D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31779-5C35-4C6B-9CE2-9C5EB1F2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1B40C-5217-420E-9EA7-3C672791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22C08-1C75-4E35-9E53-C387F75C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76DA0-875E-4E64-87C0-07ED012B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80385-9C1E-440C-9E1B-ADD2A081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B0F7F1-DE4E-46C5-94B7-FCE46E59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001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B0388B-019C-4EEE-BE4E-D2DDCD9F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240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77AEB-06ED-4390-8C29-8ABC236C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38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E2773-2C7E-45C5-A30C-F86CB5F3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14550"/>
            <a:ext cx="752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完成ESP32-S3R8低功耗触控智能手表样机设计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B842FC-4955-44D9-B5C9-29C5C2BF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67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10B0D7-FED6-4F90-B4C5-2700C20A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43200"/>
            <a:ext cx="752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实现表盘、触摸交互、多媒体、小说、小游戏等本地功能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CC58B4-1B59-465C-90A1-4FC567BC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95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A59F78-9EE3-434B-8C06-2A11E4D1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71850"/>
            <a:ext cx="752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实现WiFi、天气、NTP、MQTT、本地/云端OTA等联网维护能力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BF9C80-78D1-4851-A168-05FCF6D6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24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00D39D-788D-48DD-8771-E02CA143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00500"/>
            <a:ext cx="752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通过FreeRTOS任务划分与异步消息队列完成业务和显示解耦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D4B87C-CC31-4E7E-B4B9-7331D7E9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781050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053ED6-FC32-4BD1-8F41-455E5CE6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rPr>
              <a:t>后续将围绕显示同步、存储带宽、外设断电和结构小型化继续优化，使系统更接近可长期佩戴的工程样机。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3767ED-9202-4023-BB8E-3766C730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57900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753624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2026-05-27T18:48:14.6830000Z</dcterms:created>
  <dcterms:modified xsi:type="dcterms:W3CDTF">2026-05-27T18:48:14.6830000Z</dcterms:modified>
</coreProperties>
</file>